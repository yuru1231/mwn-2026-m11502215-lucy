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78" r:id="rId6"/>
    <p:sldId id="261" r:id="rId7"/>
    <p:sldId id="260" r:id="rId8"/>
    <p:sldId id="264" r:id="rId9"/>
    <p:sldId id="262" r:id="rId10"/>
    <p:sldId id="279" r:id="rId11"/>
    <p:sldId id="281" r:id="rId12"/>
    <p:sldId id="280" r:id="rId13"/>
  </p:sldIdLst>
  <p:sldSz cx="18288000" cy="10287000"/>
  <p:notesSz cx="6858000" cy="9144000"/>
  <p:embeddedFontLst>
    <p:embeddedFont>
      <p:font typeface="Cambria Math" panose="02040503050406030204" pitchFamily="18" charset="0"/>
      <p:regular r:id="rId15"/>
    </p:embeddedFont>
    <p:embeddedFont>
      <p:font typeface="Montserrat Bold" panose="00000800000000000000" charset="0"/>
      <p:regular r:id="rId16"/>
    </p:embeddedFont>
    <p:embeddedFont>
      <p:font typeface="Open Sans" panose="020B0606030504020204" pitchFamily="34" charset="0"/>
      <p:regular r:id="rId17"/>
      <p:bold r:id="rId18"/>
      <p:italic r:id="rId19"/>
      <p:boldItalic r:id="rId20"/>
    </p:embeddedFont>
    <p:embeddedFont>
      <p:font typeface="Open Sans Bold" panose="020B0806030504020204" charset="0"/>
      <p:regular r:id="rId2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01010"/>
    <a:srgbClr val="EEEEF0"/>
    <a:srgbClr val="DCE6F2"/>
    <a:srgbClr val="9D9AB1"/>
    <a:srgbClr val="CABCCB"/>
    <a:srgbClr val="9FB5C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152" autoAdjust="0"/>
    <p:restoredTop sz="94622" autoAdjust="0"/>
  </p:normalViewPr>
  <p:slideViewPr>
    <p:cSldViewPr>
      <p:cViewPr varScale="1">
        <p:scale>
          <a:sx n="47" d="100"/>
          <a:sy n="47" d="100"/>
        </p:scale>
        <p:origin x="516" y="4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18.09.2026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endParaRPr lang="en-US"/>
          </a:p>
          <a:p>
            <a:r>
              <a:rPr lang="en-US"/>
              <a:t>1</a:t>
            </a:r>
          </a:p>
          <a:p>
            <a:endParaRPr lang="en-US"/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endParaRPr lang="en-US"/>
          </a:p>
          <a:p>
            <a:r>
              <a:rPr lang="en-US"/>
              <a:t>2</a:t>
            </a:r>
          </a:p>
          <a:p>
            <a:endParaRPr lang="en-US"/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endParaRPr lang="en-US"/>
          </a:p>
          <a:p>
            <a:r>
              <a:rPr lang="en-US"/>
              <a:t>3</a:t>
            </a:r>
          </a:p>
          <a:p>
            <a:endParaRPr lang="en-US"/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endParaRPr lang="en-US"/>
          </a:p>
          <a:p>
            <a:r>
              <a:rPr lang="en-US"/>
              <a:t>4</a:t>
            </a:r>
          </a:p>
          <a:p>
            <a:endParaRPr lang="en-US"/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0FA685-599F-3BDB-7420-6C611F570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73459B1-F157-6F6C-A3DD-9D0682485E8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3D53F11-83AD-2AA9-1917-4943491BE6A3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4B7AAC68-2B76-F35F-5067-842E6EC1960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435CDBF2-5F3B-1CA6-632E-21F2353B586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/>
              <a:t>1.7.2013</a:t>
            </a:r>
          </a:p>
          <a:p>
            <a:endParaRPr lang="en-US" dirty="0"/>
          </a:p>
          <a:p>
            <a:r>
              <a:rPr lang="en-US" dirty="0"/>
              <a:t>4</a:t>
            </a:r>
          </a:p>
          <a:p>
            <a:endParaRPr lang="en-US" dirty="0"/>
          </a:p>
          <a:p>
            <a:r>
              <a:rPr lang="en-US" dirty="0"/>
              <a:t>‹#›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D132C6-AE8C-6623-7A7E-A2126B5F7F77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1EB325-5EA7-CE15-DEA5-1A5AF0D45A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9512625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endParaRPr lang="en-US"/>
          </a:p>
          <a:p>
            <a:r>
              <a:rPr lang="en-US"/>
              <a:t>6</a:t>
            </a:r>
          </a:p>
          <a:p>
            <a:endParaRPr lang="en-US"/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/>
              <a:t>1.7.2013</a:t>
            </a:r>
          </a:p>
          <a:p>
            <a:endParaRPr lang="en-US" dirty="0"/>
          </a:p>
          <a:p>
            <a:r>
              <a:rPr lang="en-US" dirty="0"/>
              <a:t>5</a:t>
            </a:r>
          </a:p>
          <a:p>
            <a:endParaRPr lang="en-US" dirty="0"/>
          </a:p>
          <a:p>
            <a:r>
              <a:rPr lang="en-US" dirty="0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endParaRPr lang="en-US"/>
          </a:p>
          <a:p>
            <a:r>
              <a:rPr lang="en-US"/>
              <a:t>9</a:t>
            </a:r>
          </a:p>
          <a:p>
            <a:endParaRPr lang="en-US"/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endParaRPr lang="en-US"/>
          </a:p>
          <a:p>
            <a:r>
              <a:rPr lang="en-US"/>
              <a:t>7</a:t>
            </a:r>
          </a:p>
          <a:p>
            <a:endParaRPr lang="en-US"/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DAEF2-2188-FDA7-3340-67329342C5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492EC71E-25E1-DEC1-5C49-21DEAD654BC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81DE1F1-7A5A-8126-B4EE-5DF59D29978C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36BFB648-5468-0BB6-AF33-A3DEBBE94A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2A7754F5-C462-6390-AE47-31452BA5C2F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endParaRPr lang="en-US"/>
          </a:p>
          <a:p>
            <a:r>
              <a:rPr lang="en-US"/>
              <a:t>7</a:t>
            </a:r>
          </a:p>
          <a:p>
            <a:endParaRPr lang="en-US"/>
          </a:p>
          <a:p>
            <a:r>
              <a:rPr lang="en-US"/>
              <a:t>‹#›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A9853A-031C-965C-53AA-D5516253A0B7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1E7F73-9165-0F6E-7A09-8556A70EC8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384492652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392CF3-E451-5819-6C5F-E2E69EA6E9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7E4D46C-7720-ACEA-24B4-0865CED016E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061B695-4BCD-6845-E571-B7CB035811BD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E40619D1-574E-6248-F181-4E9B4D764B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10891DBB-1001-764A-A473-95C2CBAAAE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endParaRPr lang="en-US"/>
          </a:p>
          <a:p>
            <a:r>
              <a:rPr lang="en-US"/>
              <a:t>9</a:t>
            </a:r>
          </a:p>
          <a:p>
            <a:endParaRPr lang="en-US"/>
          </a:p>
          <a:p>
            <a:r>
              <a:rPr lang="en-US"/>
              <a:t>‹#›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22F737-068A-417C-146A-2F7ADF05F2AF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A93911-9319-096B-A4F9-ED439EF38B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355015650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4E77C-E847-79DE-E7F1-6E9B733451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4EBDDD3-6057-A06C-9671-FFD4CD79489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672C2CB-6439-1EA4-7C9E-3F9146222023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40DF5801-DB24-28F2-5993-293636A2758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E21E0FFA-B941-9257-722F-8735AE1E151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endParaRPr lang="en-US"/>
          </a:p>
          <a:p>
            <a:r>
              <a:rPr lang="en-US"/>
              <a:t>7</a:t>
            </a:r>
          </a:p>
          <a:p>
            <a:endParaRPr lang="en-US"/>
          </a:p>
          <a:p>
            <a:r>
              <a:rPr lang="en-US"/>
              <a:t>‹#›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DEE553-5FC9-7C82-6A99-260215DB9E47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D64A16-D4EF-0CD3-BCA5-A59F5D43DD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11006588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svg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ieeexplore.ieee.org/stamp/stamp.jsp?tp=&amp;arnumber=10077212" TargetMode="External"/><Relationship Id="rId4" Type="http://schemas.openxmlformats.org/officeDocument/2006/relationships/hyperlink" Target="https://ieeexplore.ieee.org/stamp/stamp.jsp?tp=&amp;arnumber=11626104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10.png"/><Relationship Id="rId13" Type="http://schemas.openxmlformats.org/officeDocument/2006/relationships/image" Target="../media/image191.png"/><Relationship Id="rId18" Type="http://schemas.openxmlformats.org/officeDocument/2006/relationships/image" Target="../media/image241.png"/><Relationship Id="rId26" Type="http://schemas.openxmlformats.org/officeDocument/2006/relationships/image" Target="../media/image320.png"/><Relationship Id="rId3" Type="http://schemas.openxmlformats.org/officeDocument/2006/relationships/image" Target="../media/image12.jpeg"/><Relationship Id="rId21" Type="http://schemas.openxmlformats.org/officeDocument/2006/relationships/image" Target="../media/image14.png"/><Relationship Id="rId12" Type="http://schemas.openxmlformats.org/officeDocument/2006/relationships/image" Target="../media/image181.png"/><Relationship Id="rId2" Type="http://schemas.openxmlformats.org/officeDocument/2006/relationships/notesSlide" Target="../notesSlides/notesSlide9.xml"/><Relationship Id="rId20" Type="http://schemas.openxmlformats.org/officeDocument/2006/relationships/image" Target="../media/image390.png"/><Relationship Id="rId29" Type="http://schemas.openxmlformats.org/officeDocument/2006/relationships/image" Target="../media/image6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32" Type="http://schemas.openxmlformats.org/officeDocument/2006/relationships/image" Target="../media/image16.png"/><Relationship Id="rId5" Type="http://schemas.openxmlformats.org/officeDocument/2006/relationships/image" Target="../media/image1111.png"/><Relationship Id="rId28" Type="http://schemas.openxmlformats.org/officeDocument/2006/relationships/image" Target="../media/image340.png"/><Relationship Id="rId10" Type="http://schemas.openxmlformats.org/officeDocument/2006/relationships/image" Target="../media/image161.png"/><Relationship Id="rId19" Type="http://schemas.openxmlformats.org/officeDocument/2006/relationships/image" Target="../media/image251.png"/><Relationship Id="rId31" Type="http://schemas.openxmlformats.org/officeDocument/2006/relationships/image" Target="../media/image15.png"/><Relationship Id="rId30" Type="http://schemas.openxmlformats.org/officeDocument/2006/relationships/image" Target="../media/image7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preencoded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539655" y="3619500"/>
            <a:ext cx="17145000" cy="20313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600" b="1" spc="4" dirty="0">
                <a:solidFill>
                  <a:srgbClr val="92A5BC"/>
                </a:solidFill>
                <a:latin typeface="Montserrat Bold"/>
              </a:rPr>
              <a:t>Impact of Traffic Demand on LEO NTN Performance Using SNS-3</a:t>
            </a:r>
            <a:endParaRPr lang="en-US" sz="6600" b="1" spc="4" dirty="0">
              <a:solidFill>
                <a:srgbClr val="92A5BC"/>
              </a:solidFill>
              <a:latin typeface="Montserrat Bold"/>
              <a:sym typeface="Montserrat Bold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571500" y="5845378"/>
            <a:ext cx="17145000" cy="4873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40"/>
              </a:lnSpc>
            </a:pPr>
            <a:r>
              <a:rPr lang="en-US" sz="3200" b="1" dirty="0">
                <a:solidFill>
                  <a:srgbClr val="9D9AB1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M11502215 · Lucy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Grp="1" noUngrp="1" noRot="1" noMove="1" noResize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preencoded.png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US" dirty="0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5486400" cy="10287000"/>
            <a:chOff x="0" y="0"/>
            <a:chExt cx="73152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315200" cy="13716000"/>
            </a:xfrm>
            <a:custGeom>
              <a:avLst/>
              <a:gdLst/>
              <a:ahLst/>
              <a:cxnLst/>
              <a:rect l="l" t="t" r="r" b="b"/>
              <a:pathLst>
                <a:path w="7315200" h="13716000">
                  <a:moveTo>
                    <a:pt x="0" y="0"/>
                  </a:moveTo>
                  <a:lnTo>
                    <a:pt x="7315200" y="0"/>
                  </a:lnTo>
                  <a:lnTo>
                    <a:pt x="73152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5F5F5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" name="TextBox 6"/>
          <p:cNvSpPr txBox="1"/>
          <p:nvPr/>
        </p:nvSpPr>
        <p:spPr>
          <a:xfrm rot="-5400000">
            <a:off x="570310" y="4735116"/>
            <a:ext cx="4364831" cy="8167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879"/>
              </a:lnSpc>
            </a:pPr>
            <a:r>
              <a:rPr lang="en-US" sz="4899" b="1" spc="5">
                <a:solidFill>
                  <a:srgbClr val="92A5B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CONTENTS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629400" y="1714500"/>
            <a:ext cx="714375" cy="5572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1" dirty="0">
                <a:solidFill>
                  <a:srgbClr val="9D9AB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01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772400" y="1759144"/>
            <a:ext cx="8772525" cy="4679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8"/>
              </a:lnSpc>
            </a:pPr>
            <a:r>
              <a:rPr lang="en-US" sz="2499" dirty="0">
                <a:solidFill>
                  <a:srgbClr val="3D3D3D"/>
                </a:solidFill>
                <a:latin typeface="Open Sans"/>
                <a:ea typeface="Open Sans"/>
                <a:cs typeface="Open Sans"/>
                <a:sym typeface="Open Sans"/>
              </a:rPr>
              <a:t>Introduction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629400" y="2843212"/>
            <a:ext cx="714375" cy="5572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1">
                <a:solidFill>
                  <a:srgbClr val="9D9AB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02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772400" y="2887856"/>
            <a:ext cx="8772525" cy="3712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8"/>
              </a:lnSpc>
            </a:pPr>
            <a:r>
              <a:rPr lang="en-US" sz="2499" dirty="0">
                <a:solidFill>
                  <a:srgbClr val="3D3D3D"/>
                </a:solidFill>
                <a:latin typeface="Open Sans"/>
                <a:ea typeface="Open Sans"/>
                <a:cs typeface="Open Sans"/>
                <a:sym typeface="Open Sans"/>
              </a:rPr>
              <a:t>Reference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629400" y="3971925"/>
            <a:ext cx="714375" cy="5572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1">
                <a:solidFill>
                  <a:srgbClr val="9D9AB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03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7772400" y="4016578"/>
            <a:ext cx="8772525" cy="3693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8"/>
              </a:lnSpc>
            </a:pPr>
            <a:r>
              <a:rPr lang="en-US" sz="2499" dirty="0">
                <a:solidFill>
                  <a:srgbClr val="3D3D3D"/>
                </a:solidFill>
                <a:latin typeface="Open Sans"/>
                <a:ea typeface="Open Sans"/>
                <a:cs typeface="Open Sans"/>
                <a:sym typeface="Open Sans"/>
              </a:rPr>
              <a:t>System Architecture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629400" y="5100638"/>
            <a:ext cx="714375" cy="5572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1">
                <a:solidFill>
                  <a:srgbClr val="9D9AB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04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772400" y="5145291"/>
            <a:ext cx="8772525" cy="3845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2499" dirty="0">
                <a:solidFill>
                  <a:srgbClr val="3D3D3D"/>
                </a:solidFill>
                <a:latin typeface="Open Sans"/>
                <a:ea typeface="Open Sans"/>
                <a:cs typeface="Open Sans"/>
              </a:rPr>
              <a:t>Expected Deliverables</a:t>
            </a:r>
            <a:endParaRPr lang="en-US" sz="2499" dirty="0">
              <a:solidFill>
                <a:srgbClr val="3D3D3D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preencoded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143000" y="4524375"/>
            <a:ext cx="4572000" cy="2762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775"/>
              </a:lnSpc>
            </a:pPr>
            <a:r>
              <a:rPr lang="en-US" sz="33099" b="1" dirty="0">
                <a:solidFill>
                  <a:srgbClr val="F0F0F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01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5000625" y="3998709"/>
            <a:ext cx="85725" cy="2289620"/>
            <a:chOff x="0" y="0"/>
            <a:chExt cx="114300" cy="3052826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14300" cy="3052826"/>
            </a:xfrm>
            <a:custGeom>
              <a:avLst/>
              <a:gdLst/>
              <a:ahLst/>
              <a:cxnLst/>
              <a:rect l="l" t="t" r="r" b="b"/>
              <a:pathLst>
                <a:path w="114300" h="3052826">
                  <a:moveTo>
                    <a:pt x="0" y="0"/>
                  </a:moveTo>
                  <a:lnTo>
                    <a:pt x="114300" y="0"/>
                  </a:lnTo>
                  <a:lnTo>
                    <a:pt x="114300" y="3052826"/>
                  </a:lnTo>
                  <a:lnTo>
                    <a:pt x="0" y="3052826"/>
                  </a:lnTo>
                  <a:close/>
                </a:path>
              </a:pathLst>
            </a:custGeom>
            <a:solidFill>
              <a:srgbClr val="9FB5CF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5572125" y="3998709"/>
            <a:ext cx="7143750" cy="9751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838"/>
              </a:lnSpc>
            </a:pPr>
            <a:r>
              <a:rPr lang="en-US" sz="5700" b="1" spc="3" dirty="0">
                <a:solidFill>
                  <a:srgbClr val="92A5B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INTRODUCTION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5572125" y="5145291"/>
            <a:ext cx="7143750" cy="1143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99"/>
              </a:lnSpc>
            </a:pPr>
            <a:r>
              <a:rPr lang="en-US" sz="2499">
                <a:solidFill>
                  <a:srgbClr val="9D9AB1"/>
                </a:solidFill>
                <a:latin typeface="Open Sans"/>
                <a:ea typeface="Open Sans"/>
                <a:cs typeface="Open Sans"/>
                <a:sym typeface="Open Sans"/>
              </a:rPr>
              <a:t>A brief overview of my background, values, and professional journey.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1"/>
          <p:cNvGrpSpPr/>
          <p:nvPr/>
        </p:nvGrpSpPr>
        <p:grpSpPr>
          <a:xfrm>
            <a:off x="292653" y="6348921"/>
            <a:ext cx="571500" cy="571500"/>
            <a:chOff x="0" y="0"/>
            <a:chExt cx="762000" cy="7620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762000" cy="762000"/>
            </a:xfrm>
            <a:custGeom>
              <a:avLst/>
              <a:gdLst/>
              <a:ahLst/>
              <a:cxnLst/>
              <a:rect l="l" t="t" r="r" b="b"/>
              <a:pathLst>
                <a:path w="762000" h="762000">
                  <a:moveTo>
                    <a:pt x="0" y="381000"/>
                  </a:moveTo>
                  <a:cubicBezTo>
                    <a:pt x="0" y="170561"/>
                    <a:pt x="170561" y="0"/>
                    <a:pt x="381000" y="0"/>
                  </a:cubicBezTo>
                  <a:cubicBezTo>
                    <a:pt x="591439" y="0"/>
                    <a:pt x="762000" y="170561"/>
                    <a:pt x="762000" y="381000"/>
                  </a:cubicBezTo>
                  <a:cubicBezTo>
                    <a:pt x="762000" y="591439"/>
                    <a:pt x="591439" y="762000"/>
                    <a:pt x="381000" y="762000"/>
                  </a:cubicBezTo>
                  <a:cubicBezTo>
                    <a:pt x="170561" y="762000"/>
                    <a:pt x="0" y="591439"/>
                    <a:pt x="0" y="381000"/>
                  </a:cubicBezTo>
                  <a:close/>
                </a:path>
              </a:pathLst>
            </a:custGeom>
            <a:solidFill>
              <a:srgbClr val="CABCCB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292653" y="7277609"/>
            <a:ext cx="571500" cy="571500"/>
            <a:chOff x="0" y="0"/>
            <a:chExt cx="762000" cy="7620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762000" cy="762000"/>
            </a:xfrm>
            <a:custGeom>
              <a:avLst/>
              <a:gdLst/>
              <a:ahLst/>
              <a:cxnLst/>
              <a:rect l="l" t="t" r="r" b="b"/>
              <a:pathLst>
                <a:path w="762000" h="762000">
                  <a:moveTo>
                    <a:pt x="0" y="381000"/>
                  </a:moveTo>
                  <a:cubicBezTo>
                    <a:pt x="0" y="170561"/>
                    <a:pt x="170561" y="0"/>
                    <a:pt x="381000" y="0"/>
                  </a:cubicBezTo>
                  <a:cubicBezTo>
                    <a:pt x="591439" y="0"/>
                    <a:pt x="762000" y="170561"/>
                    <a:pt x="762000" y="381000"/>
                  </a:cubicBezTo>
                  <a:cubicBezTo>
                    <a:pt x="762000" y="591439"/>
                    <a:pt x="591439" y="762000"/>
                    <a:pt x="381000" y="762000"/>
                  </a:cubicBezTo>
                  <a:cubicBezTo>
                    <a:pt x="170561" y="762000"/>
                    <a:pt x="0" y="591439"/>
                    <a:pt x="0" y="381000"/>
                  </a:cubicBezTo>
                  <a:close/>
                </a:path>
              </a:pathLst>
            </a:custGeom>
            <a:solidFill>
              <a:srgbClr val="9FB5C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292653" y="8206306"/>
            <a:ext cx="571500" cy="571500"/>
            <a:chOff x="0" y="0"/>
            <a:chExt cx="762000" cy="7620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762000" cy="762000"/>
            </a:xfrm>
            <a:custGeom>
              <a:avLst/>
              <a:gdLst/>
              <a:ahLst/>
              <a:cxnLst/>
              <a:rect l="l" t="t" r="r" b="b"/>
              <a:pathLst>
                <a:path w="762000" h="762000">
                  <a:moveTo>
                    <a:pt x="0" y="381000"/>
                  </a:moveTo>
                  <a:cubicBezTo>
                    <a:pt x="0" y="170561"/>
                    <a:pt x="170561" y="0"/>
                    <a:pt x="381000" y="0"/>
                  </a:cubicBezTo>
                  <a:cubicBezTo>
                    <a:pt x="591439" y="0"/>
                    <a:pt x="762000" y="170561"/>
                    <a:pt x="762000" y="381000"/>
                  </a:cubicBezTo>
                  <a:cubicBezTo>
                    <a:pt x="762000" y="591439"/>
                    <a:pt x="591439" y="762000"/>
                    <a:pt x="381000" y="762000"/>
                  </a:cubicBezTo>
                  <a:cubicBezTo>
                    <a:pt x="170561" y="762000"/>
                    <a:pt x="0" y="591439"/>
                    <a:pt x="0" y="381000"/>
                  </a:cubicBezTo>
                  <a:close/>
                </a:path>
              </a:pathLst>
            </a:custGeom>
            <a:solidFill>
              <a:srgbClr val="CCDEE0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292653" y="9134993"/>
            <a:ext cx="571500" cy="571500"/>
            <a:chOff x="0" y="0"/>
            <a:chExt cx="762000" cy="76200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762000" cy="762000"/>
            </a:xfrm>
            <a:custGeom>
              <a:avLst/>
              <a:gdLst/>
              <a:ahLst/>
              <a:cxnLst/>
              <a:rect l="l" t="t" r="r" b="b"/>
              <a:pathLst>
                <a:path w="762000" h="762000">
                  <a:moveTo>
                    <a:pt x="0" y="381000"/>
                  </a:moveTo>
                  <a:cubicBezTo>
                    <a:pt x="0" y="170561"/>
                    <a:pt x="170561" y="0"/>
                    <a:pt x="381000" y="0"/>
                  </a:cubicBezTo>
                  <a:cubicBezTo>
                    <a:pt x="591439" y="0"/>
                    <a:pt x="762000" y="170561"/>
                    <a:pt x="762000" y="381000"/>
                  </a:cubicBezTo>
                  <a:cubicBezTo>
                    <a:pt x="762000" y="591439"/>
                    <a:pt x="591439" y="762000"/>
                    <a:pt x="381000" y="762000"/>
                  </a:cubicBezTo>
                  <a:cubicBezTo>
                    <a:pt x="170561" y="762000"/>
                    <a:pt x="0" y="591439"/>
                    <a:pt x="0" y="381000"/>
                  </a:cubicBezTo>
                  <a:close/>
                </a:path>
              </a:pathLst>
            </a:custGeom>
            <a:solidFill>
              <a:srgbClr val="9D9AB1"/>
            </a:solidFill>
          </p:spPr>
          <p:txBody>
            <a:bodyPr/>
            <a:lstStyle/>
            <a:p>
              <a:endParaRPr lang="en-US"/>
            </a:p>
          </p:txBody>
        </p:sp>
      </p:grpSp>
      <p:pic>
        <p:nvPicPr>
          <p:cNvPr id="32" name="Graphic 31" descr="Satellite dish with solid fill">
            <a:extLst>
              <a:ext uri="{FF2B5EF4-FFF2-40B4-BE49-F238E27FC236}">
                <a16:creationId xmlns:a16="http://schemas.microsoft.com/office/drawing/2014/main" id="{61F15419-C2BA-C9D6-74BF-DD3EDDF4FEC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469684" y="6647454"/>
            <a:ext cx="1683600" cy="1683600"/>
          </a:xfrm>
          <a:prstGeom prst="rect">
            <a:avLst/>
          </a:prstGeom>
        </p:spPr>
      </p:pic>
      <p:pic>
        <p:nvPicPr>
          <p:cNvPr id="34" name="Graphic 33" descr="Satellite with solid fill">
            <a:extLst>
              <a:ext uri="{FF2B5EF4-FFF2-40B4-BE49-F238E27FC236}">
                <a16:creationId xmlns:a16="http://schemas.microsoft.com/office/drawing/2014/main" id="{B917F853-2CE1-0501-6FB1-203D4AF6B6E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48600" y="2896736"/>
            <a:ext cx="1683600" cy="1683600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58A8B3F8-4247-B82D-C2DB-DE6F2CD4E47C}"/>
              </a:ext>
            </a:extLst>
          </p:cNvPr>
          <p:cNvGrpSpPr/>
          <p:nvPr/>
        </p:nvGrpSpPr>
        <p:grpSpPr>
          <a:xfrm>
            <a:off x="1537452" y="6598888"/>
            <a:ext cx="2301480" cy="2151560"/>
            <a:chOff x="6679612" y="4972182"/>
            <a:chExt cx="2301480" cy="2151560"/>
          </a:xfrm>
        </p:grpSpPr>
        <p:pic>
          <p:nvPicPr>
            <p:cNvPr id="36" name="Graphic 35" descr="Computer with solid fill">
              <a:extLst>
                <a:ext uri="{FF2B5EF4-FFF2-40B4-BE49-F238E27FC236}">
                  <a16:creationId xmlns:a16="http://schemas.microsoft.com/office/drawing/2014/main" id="{F6565539-C709-0F2B-7046-20D89535FD8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878394" y="4972182"/>
              <a:ext cx="1102698" cy="1102698"/>
            </a:xfrm>
            <a:prstGeom prst="rect">
              <a:avLst/>
            </a:prstGeom>
          </p:spPr>
        </p:pic>
        <p:pic>
          <p:nvPicPr>
            <p:cNvPr id="38" name="Graphic 37" descr="Users with solid fill">
              <a:extLst>
                <a:ext uri="{FF2B5EF4-FFF2-40B4-BE49-F238E27FC236}">
                  <a16:creationId xmlns:a16="http://schemas.microsoft.com/office/drawing/2014/main" id="{F326BFA7-F4DA-5E3B-5BB8-2DE958054B3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679612" y="4986331"/>
              <a:ext cx="2137411" cy="2137411"/>
            </a:xfrm>
            <a:prstGeom prst="rect">
              <a:avLst/>
            </a:prstGeom>
          </p:spPr>
        </p:pic>
      </p:grpSp>
      <p:pic>
        <p:nvPicPr>
          <p:cNvPr id="40" name="Graphic 39" descr="Server with solid fill">
            <a:extLst>
              <a:ext uri="{FF2B5EF4-FFF2-40B4-BE49-F238E27FC236}">
                <a16:creationId xmlns:a16="http://schemas.microsoft.com/office/drawing/2014/main" id="{702030FC-A6DE-CA97-495E-6886CE6C6E3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968295" y="6502660"/>
            <a:ext cx="1683600" cy="1683600"/>
          </a:xfrm>
          <a:prstGeom prst="rect">
            <a:avLst/>
          </a:prstGeom>
        </p:spPr>
      </p:pic>
      <p:sp>
        <p:nvSpPr>
          <p:cNvPr id="42" name="TextBox 7">
            <a:extLst>
              <a:ext uri="{FF2B5EF4-FFF2-40B4-BE49-F238E27FC236}">
                <a16:creationId xmlns:a16="http://schemas.microsoft.com/office/drawing/2014/main" id="{EB55604C-BB87-E72B-4580-84906E4F86A8}"/>
              </a:ext>
            </a:extLst>
          </p:cNvPr>
          <p:cNvSpPr txBox="1"/>
          <p:nvPr/>
        </p:nvSpPr>
        <p:spPr>
          <a:xfrm>
            <a:off x="927524" y="947072"/>
            <a:ext cx="11721675" cy="87203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838"/>
              </a:lnSpc>
            </a:pPr>
            <a:r>
              <a:rPr lang="en-US" sz="5700" b="1" spc="3" dirty="0">
                <a:solidFill>
                  <a:srgbClr val="92A5B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NTN Structure- User Plane</a:t>
            </a:r>
          </a:p>
        </p:txBody>
      </p:sp>
      <p:pic>
        <p:nvPicPr>
          <p:cNvPr id="44" name="Graphic 43" descr="Satellite dish with solid fill">
            <a:extLst>
              <a:ext uri="{FF2B5EF4-FFF2-40B4-BE49-F238E27FC236}">
                <a16:creationId xmlns:a16="http://schemas.microsoft.com/office/drawing/2014/main" id="{294715B4-1DC8-F8E6-C186-B7688B2E5A0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H="1">
            <a:off x="11042753" y="6502660"/>
            <a:ext cx="1683600" cy="1683600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A04E16D3-545B-CB7B-13B2-1F1CFF32ACBE}"/>
              </a:ext>
            </a:extLst>
          </p:cNvPr>
          <p:cNvSpPr txBox="1"/>
          <p:nvPr/>
        </p:nvSpPr>
        <p:spPr>
          <a:xfrm>
            <a:off x="2042358" y="8448329"/>
            <a:ext cx="10663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User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0E49F21-E3C0-B22F-36FF-9E0636BDA1E0}"/>
              </a:ext>
            </a:extLst>
          </p:cNvPr>
          <p:cNvSpPr txBox="1"/>
          <p:nvPr/>
        </p:nvSpPr>
        <p:spPr>
          <a:xfrm>
            <a:off x="14968295" y="8352101"/>
            <a:ext cx="18528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Network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99BB2B6-56A1-7DE0-F647-4B48FDB28B43}"/>
              </a:ext>
            </a:extLst>
          </p:cNvPr>
          <p:cNvSpPr txBox="1"/>
          <p:nvPr/>
        </p:nvSpPr>
        <p:spPr>
          <a:xfrm>
            <a:off x="5485606" y="8496895"/>
            <a:ext cx="28346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User Terminal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7B45CDB-F6B7-ADCD-B721-7E80BCE6FD36}"/>
              </a:ext>
            </a:extLst>
          </p:cNvPr>
          <p:cNvSpPr txBox="1"/>
          <p:nvPr/>
        </p:nvSpPr>
        <p:spPr>
          <a:xfrm>
            <a:off x="9375460" y="2730160"/>
            <a:ext cx="17416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Satellite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54CB823-CF2B-AA83-50C6-E94DFA2CFD4E}"/>
              </a:ext>
            </a:extLst>
          </p:cNvPr>
          <p:cNvSpPr txBox="1"/>
          <p:nvPr/>
        </p:nvSpPr>
        <p:spPr>
          <a:xfrm>
            <a:off x="11046264" y="8331054"/>
            <a:ext cx="186480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Gateway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603F0D-9D9B-C150-0633-0E220093B5AE}"/>
              </a:ext>
            </a:extLst>
          </p:cNvPr>
          <p:cNvSpPr txBox="1"/>
          <p:nvPr/>
        </p:nvSpPr>
        <p:spPr>
          <a:xfrm>
            <a:off x="10693522" y="4594951"/>
            <a:ext cx="23820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Feeder Link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1A3D70E-FF95-7B9B-7013-7112E8F2016A}"/>
              </a:ext>
            </a:extLst>
          </p:cNvPr>
          <p:cNvSpPr txBox="1"/>
          <p:nvPr/>
        </p:nvSpPr>
        <p:spPr>
          <a:xfrm>
            <a:off x="4481498" y="4764304"/>
            <a:ext cx="24441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Service Link</a:t>
            </a: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200BCAAC-93D9-520E-1ECD-6566268AC8C4}"/>
              </a:ext>
            </a:extLst>
          </p:cNvPr>
          <p:cNvCxnSpPr>
            <a:cxnSpLocks/>
          </p:cNvCxnSpPr>
          <p:nvPr/>
        </p:nvCxnSpPr>
        <p:spPr>
          <a:xfrm flipH="1">
            <a:off x="13182600" y="7489254"/>
            <a:ext cx="1429894" cy="0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BE3C3F3A-DB81-6505-C39D-C0E098A27F3C}"/>
              </a:ext>
            </a:extLst>
          </p:cNvPr>
          <p:cNvCxnSpPr>
            <a:cxnSpLocks/>
          </p:cNvCxnSpPr>
          <p:nvPr/>
        </p:nvCxnSpPr>
        <p:spPr>
          <a:xfrm flipH="1">
            <a:off x="4099282" y="7701586"/>
            <a:ext cx="1429894" cy="0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521EB40B-645B-80CE-974D-A2172C36E006}"/>
              </a:ext>
            </a:extLst>
          </p:cNvPr>
          <p:cNvCxnSpPr/>
          <p:nvPr/>
        </p:nvCxnSpPr>
        <p:spPr>
          <a:xfrm flipH="1">
            <a:off x="6575030" y="4850857"/>
            <a:ext cx="1174283" cy="1374348"/>
          </a:xfrm>
          <a:prstGeom prst="straightConnector1">
            <a:avLst/>
          </a:prstGeom>
          <a:ln w="571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1FD4441A-0409-134F-BF67-B639CAEBC4A8}"/>
              </a:ext>
            </a:extLst>
          </p:cNvPr>
          <p:cNvCxnSpPr>
            <a:cxnSpLocks/>
          </p:cNvCxnSpPr>
          <p:nvPr/>
        </p:nvCxnSpPr>
        <p:spPr>
          <a:xfrm>
            <a:off x="9747281" y="4918116"/>
            <a:ext cx="1117572" cy="1374348"/>
          </a:xfrm>
          <a:prstGeom prst="straightConnector1">
            <a:avLst/>
          </a:prstGeom>
          <a:ln w="571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94EC83E3-E8A5-0CB5-907B-B0B17A0D80F3}"/>
              </a:ext>
            </a:extLst>
          </p:cNvPr>
          <p:cNvSpPr txBox="1"/>
          <p:nvPr/>
        </p:nvSpPr>
        <p:spPr>
          <a:xfrm>
            <a:off x="13047151" y="1714500"/>
            <a:ext cx="44508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/>
              <a:t>Transparent mode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9EA8E6-918E-61EC-5A3E-406E9BF0E7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1">
            <a:extLst>
              <a:ext uri="{FF2B5EF4-FFF2-40B4-BE49-F238E27FC236}">
                <a16:creationId xmlns:a16="http://schemas.microsoft.com/office/drawing/2014/main" id="{279FCD57-4FCC-89E2-2791-5891E0437688}"/>
              </a:ext>
            </a:extLst>
          </p:cNvPr>
          <p:cNvGrpSpPr/>
          <p:nvPr/>
        </p:nvGrpSpPr>
        <p:grpSpPr>
          <a:xfrm>
            <a:off x="292653" y="6348921"/>
            <a:ext cx="571500" cy="571500"/>
            <a:chOff x="0" y="0"/>
            <a:chExt cx="762000" cy="762000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49A6A836-8414-65E6-4915-E8F4C94B5D3E}"/>
                </a:ext>
              </a:extLst>
            </p:cNvPr>
            <p:cNvSpPr/>
            <p:nvPr/>
          </p:nvSpPr>
          <p:spPr>
            <a:xfrm>
              <a:off x="0" y="0"/>
              <a:ext cx="762000" cy="762000"/>
            </a:xfrm>
            <a:custGeom>
              <a:avLst/>
              <a:gdLst/>
              <a:ahLst/>
              <a:cxnLst/>
              <a:rect l="l" t="t" r="r" b="b"/>
              <a:pathLst>
                <a:path w="762000" h="762000">
                  <a:moveTo>
                    <a:pt x="0" y="381000"/>
                  </a:moveTo>
                  <a:cubicBezTo>
                    <a:pt x="0" y="170561"/>
                    <a:pt x="170561" y="0"/>
                    <a:pt x="381000" y="0"/>
                  </a:cubicBezTo>
                  <a:cubicBezTo>
                    <a:pt x="591439" y="0"/>
                    <a:pt x="762000" y="170561"/>
                    <a:pt x="762000" y="381000"/>
                  </a:cubicBezTo>
                  <a:cubicBezTo>
                    <a:pt x="762000" y="591439"/>
                    <a:pt x="591439" y="762000"/>
                    <a:pt x="381000" y="762000"/>
                  </a:cubicBezTo>
                  <a:cubicBezTo>
                    <a:pt x="170561" y="762000"/>
                    <a:pt x="0" y="591439"/>
                    <a:pt x="0" y="381000"/>
                  </a:cubicBezTo>
                  <a:close/>
                </a:path>
              </a:pathLst>
            </a:custGeom>
            <a:solidFill>
              <a:srgbClr val="CABCCB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6" name="Group 16">
            <a:extLst>
              <a:ext uri="{FF2B5EF4-FFF2-40B4-BE49-F238E27FC236}">
                <a16:creationId xmlns:a16="http://schemas.microsoft.com/office/drawing/2014/main" id="{974E336F-3220-78B4-8FCC-F72610395054}"/>
              </a:ext>
            </a:extLst>
          </p:cNvPr>
          <p:cNvGrpSpPr/>
          <p:nvPr/>
        </p:nvGrpSpPr>
        <p:grpSpPr>
          <a:xfrm>
            <a:off x="292653" y="7277609"/>
            <a:ext cx="571500" cy="571500"/>
            <a:chOff x="0" y="0"/>
            <a:chExt cx="762000" cy="762000"/>
          </a:xfrm>
        </p:grpSpPr>
        <p:sp>
          <p:nvSpPr>
            <p:cNvPr id="17" name="Freeform 17">
              <a:extLst>
                <a:ext uri="{FF2B5EF4-FFF2-40B4-BE49-F238E27FC236}">
                  <a16:creationId xmlns:a16="http://schemas.microsoft.com/office/drawing/2014/main" id="{7CB336DA-8560-977A-6E68-B67109CA57E6}"/>
                </a:ext>
              </a:extLst>
            </p:cNvPr>
            <p:cNvSpPr/>
            <p:nvPr/>
          </p:nvSpPr>
          <p:spPr>
            <a:xfrm>
              <a:off x="0" y="0"/>
              <a:ext cx="762000" cy="762000"/>
            </a:xfrm>
            <a:custGeom>
              <a:avLst/>
              <a:gdLst/>
              <a:ahLst/>
              <a:cxnLst/>
              <a:rect l="l" t="t" r="r" b="b"/>
              <a:pathLst>
                <a:path w="762000" h="762000">
                  <a:moveTo>
                    <a:pt x="0" y="381000"/>
                  </a:moveTo>
                  <a:cubicBezTo>
                    <a:pt x="0" y="170561"/>
                    <a:pt x="170561" y="0"/>
                    <a:pt x="381000" y="0"/>
                  </a:cubicBezTo>
                  <a:cubicBezTo>
                    <a:pt x="591439" y="0"/>
                    <a:pt x="762000" y="170561"/>
                    <a:pt x="762000" y="381000"/>
                  </a:cubicBezTo>
                  <a:cubicBezTo>
                    <a:pt x="762000" y="591439"/>
                    <a:pt x="591439" y="762000"/>
                    <a:pt x="381000" y="762000"/>
                  </a:cubicBezTo>
                  <a:cubicBezTo>
                    <a:pt x="170561" y="762000"/>
                    <a:pt x="0" y="591439"/>
                    <a:pt x="0" y="381000"/>
                  </a:cubicBezTo>
                  <a:close/>
                </a:path>
              </a:pathLst>
            </a:custGeom>
            <a:solidFill>
              <a:srgbClr val="9FB5C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1" name="Group 21">
            <a:extLst>
              <a:ext uri="{FF2B5EF4-FFF2-40B4-BE49-F238E27FC236}">
                <a16:creationId xmlns:a16="http://schemas.microsoft.com/office/drawing/2014/main" id="{AB74ABB4-88D7-3220-845D-2702D4D32A47}"/>
              </a:ext>
            </a:extLst>
          </p:cNvPr>
          <p:cNvGrpSpPr/>
          <p:nvPr/>
        </p:nvGrpSpPr>
        <p:grpSpPr>
          <a:xfrm>
            <a:off x="292653" y="8206306"/>
            <a:ext cx="571500" cy="571500"/>
            <a:chOff x="0" y="0"/>
            <a:chExt cx="762000" cy="762000"/>
          </a:xfrm>
        </p:grpSpPr>
        <p:sp>
          <p:nvSpPr>
            <p:cNvPr id="22" name="Freeform 22">
              <a:extLst>
                <a:ext uri="{FF2B5EF4-FFF2-40B4-BE49-F238E27FC236}">
                  <a16:creationId xmlns:a16="http://schemas.microsoft.com/office/drawing/2014/main" id="{62D979AC-46D2-A9CB-ADF3-6623B793DC98}"/>
                </a:ext>
              </a:extLst>
            </p:cNvPr>
            <p:cNvSpPr/>
            <p:nvPr/>
          </p:nvSpPr>
          <p:spPr>
            <a:xfrm>
              <a:off x="0" y="0"/>
              <a:ext cx="762000" cy="762000"/>
            </a:xfrm>
            <a:custGeom>
              <a:avLst/>
              <a:gdLst/>
              <a:ahLst/>
              <a:cxnLst/>
              <a:rect l="l" t="t" r="r" b="b"/>
              <a:pathLst>
                <a:path w="762000" h="762000">
                  <a:moveTo>
                    <a:pt x="0" y="381000"/>
                  </a:moveTo>
                  <a:cubicBezTo>
                    <a:pt x="0" y="170561"/>
                    <a:pt x="170561" y="0"/>
                    <a:pt x="381000" y="0"/>
                  </a:cubicBezTo>
                  <a:cubicBezTo>
                    <a:pt x="591439" y="0"/>
                    <a:pt x="762000" y="170561"/>
                    <a:pt x="762000" y="381000"/>
                  </a:cubicBezTo>
                  <a:cubicBezTo>
                    <a:pt x="762000" y="591439"/>
                    <a:pt x="591439" y="762000"/>
                    <a:pt x="381000" y="762000"/>
                  </a:cubicBezTo>
                  <a:cubicBezTo>
                    <a:pt x="170561" y="762000"/>
                    <a:pt x="0" y="591439"/>
                    <a:pt x="0" y="381000"/>
                  </a:cubicBezTo>
                  <a:close/>
                </a:path>
              </a:pathLst>
            </a:custGeom>
            <a:solidFill>
              <a:srgbClr val="CCDEE0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6" name="Group 26">
            <a:extLst>
              <a:ext uri="{FF2B5EF4-FFF2-40B4-BE49-F238E27FC236}">
                <a16:creationId xmlns:a16="http://schemas.microsoft.com/office/drawing/2014/main" id="{312F954F-2E8E-F33A-AEF4-41CD23450FE4}"/>
              </a:ext>
            </a:extLst>
          </p:cNvPr>
          <p:cNvGrpSpPr/>
          <p:nvPr/>
        </p:nvGrpSpPr>
        <p:grpSpPr>
          <a:xfrm>
            <a:off x="292653" y="9134993"/>
            <a:ext cx="571500" cy="571500"/>
            <a:chOff x="0" y="0"/>
            <a:chExt cx="762000" cy="762000"/>
          </a:xfrm>
        </p:grpSpPr>
        <p:sp>
          <p:nvSpPr>
            <p:cNvPr id="27" name="Freeform 27">
              <a:extLst>
                <a:ext uri="{FF2B5EF4-FFF2-40B4-BE49-F238E27FC236}">
                  <a16:creationId xmlns:a16="http://schemas.microsoft.com/office/drawing/2014/main" id="{0DAE32BD-54DF-72F7-0642-06E270BE7DBE}"/>
                </a:ext>
              </a:extLst>
            </p:cNvPr>
            <p:cNvSpPr/>
            <p:nvPr/>
          </p:nvSpPr>
          <p:spPr>
            <a:xfrm>
              <a:off x="0" y="0"/>
              <a:ext cx="762000" cy="762000"/>
            </a:xfrm>
            <a:custGeom>
              <a:avLst/>
              <a:gdLst/>
              <a:ahLst/>
              <a:cxnLst/>
              <a:rect l="l" t="t" r="r" b="b"/>
              <a:pathLst>
                <a:path w="762000" h="762000">
                  <a:moveTo>
                    <a:pt x="0" y="381000"/>
                  </a:moveTo>
                  <a:cubicBezTo>
                    <a:pt x="0" y="170561"/>
                    <a:pt x="170561" y="0"/>
                    <a:pt x="381000" y="0"/>
                  </a:cubicBezTo>
                  <a:cubicBezTo>
                    <a:pt x="591439" y="0"/>
                    <a:pt x="762000" y="170561"/>
                    <a:pt x="762000" y="381000"/>
                  </a:cubicBezTo>
                  <a:cubicBezTo>
                    <a:pt x="762000" y="591439"/>
                    <a:pt x="591439" y="762000"/>
                    <a:pt x="381000" y="762000"/>
                  </a:cubicBezTo>
                  <a:cubicBezTo>
                    <a:pt x="170561" y="762000"/>
                    <a:pt x="0" y="591439"/>
                    <a:pt x="0" y="381000"/>
                  </a:cubicBezTo>
                  <a:close/>
                </a:path>
              </a:pathLst>
            </a:custGeom>
            <a:solidFill>
              <a:srgbClr val="9D9AB1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2" name="TextBox 7">
            <a:extLst>
              <a:ext uri="{FF2B5EF4-FFF2-40B4-BE49-F238E27FC236}">
                <a16:creationId xmlns:a16="http://schemas.microsoft.com/office/drawing/2014/main" id="{AA5EBEEE-0CC8-AD2B-FAA5-3F7FFDEE685C}"/>
              </a:ext>
            </a:extLst>
          </p:cNvPr>
          <p:cNvSpPr txBox="1"/>
          <p:nvPr/>
        </p:nvSpPr>
        <p:spPr>
          <a:xfrm>
            <a:off x="927524" y="947072"/>
            <a:ext cx="14083876" cy="87203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838"/>
              </a:lnSpc>
            </a:pPr>
            <a:r>
              <a:rPr lang="en-US" sz="5700" b="1" spc="3" dirty="0" err="1">
                <a:solidFill>
                  <a:srgbClr val="92A5B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Beam</a:t>
            </a:r>
            <a:r>
              <a:rPr lang="en-US" altLang="zh-TW" sz="5700" b="1" spc="3" dirty="0" err="1">
                <a:solidFill>
                  <a:srgbClr val="92A5B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&amp;Footprint</a:t>
            </a:r>
            <a:endParaRPr lang="en-US" sz="5700" b="1" spc="3" dirty="0">
              <a:solidFill>
                <a:srgbClr val="92A5BC"/>
              </a:solidFill>
              <a:latin typeface="Montserrat Bold"/>
              <a:ea typeface="Montserrat Bold"/>
              <a:cs typeface="Montserrat Bold"/>
              <a:sym typeface="Montserrat Bold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C39ADA1-A665-7D02-30F9-6935CA351270}"/>
              </a:ext>
            </a:extLst>
          </p:cNvPr>
          <p:cNvSpPr txBox="1"/>
          <p:nvPr/>
        </p:nvSpPr>
        <p:spPr>
          <a:xfrm>
            <a:off x="10512716" y="2548537"/>
            <a:ext cx="17416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/>
              <a:t>Satellite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2BD866E7-66BA-F7ED-AB3A-713E2DB7BF92}"/>
              </a:ext>
            </a:extLst>
          </p:cNvPr>
          <p:cNvGrpSpPr/>
          <p:nvPr/>
        </p:nvGrpSpPr>
        <p:grpSpPr>
          <a:xfrm>
            <a:off x="3619497" y="8057466"/>
            <a:ext cx="11049000" cy="1378972"/>
            <a:chOff x="3581400" y="8184128"/>
            <a:chExt cx="11049000" cy="1378972"/>
          </a:xfrm>
        </p:grpSpPr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1D871E45-5315-2854-D2BC-CA850C4AAA6E}"/>
                </a:ext>
              </a:extLst>
            </p:cNvPr>
            <p:cNvSpPr/>
            <p:nvPr/>
          </p:nvSpPr>
          <p:spPr>
            <a:xfrm>
              <a:off x="3581400" y="8492056"/>
              <a:ext cx="11049000" cy="1071044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FF2B615F-F34F-D485-F328-709D92E7D4AF}"/>
                </a:ext>
              </a:extLst>
            </p:cNvPr>
            <p:cNvSpPr/>
            <p:nvPr/>
          </p:nvSpPr>
          <p:spPr>
            <a:xfrm>
              <a:off x="3810000" y="8184128"/>
              <a:ext cx="10058400" cy="1071044"/>
            </a:xfrm>
            <a:prstGeom prst="ellipse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4" name="Graphic 33" descr="Satellite with solid fill">
            <a:extLst>
              <a:ext uri="{FF2B5EF4-FFF2-40B4-BE49-F238E27FC236}">
                <a16:creationId xmlns:a16="http://schemas.microsoft.com/office/drawing/2014/main" id="{C2399325-1948-ECBC-B103-D5CBCC30333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548806" y="2069200"/>
            <a:ext cx="1683600" cy="1683600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C962092-7EA3-9302-90FF-4EFD15726D8C}"/>
              </a:ext>
            </a:extLst>
          </p:cNvPr>
          <p:cNvCxnSpPr>
            <a:cxnSpLocks/>
          </p:cNvCxnSpPr>
          <p:nvPr/>
        </p:nvCxnSpPr>
        <p:spPr>
          <a:xfrm flipH="1">
            <a:off x="6629400" y="3924300"/>
            <a:ext cx="2514599" cy="4191000"/>
          </a:xfrm>
          <a:prstGeom prst="line">
            <a:avLst/>
          </a:prstGeom>
          <a:ln w="7620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0C49F1B-4F45-BBBE-F710-C3AE24E72BC6}"/>
              </a:ext>
            </a:extLst>
          </p:cNvPr>
          <p:cNvCxnSpPr>
            <a:cxnSpLocks/>
            <a:endCxn id="46" idx="6"/>
          </p:cNvCxnSpPr>
          <p:nvPr/>
        </p:nvCxnSpPr>
        <p:spPr>
          <a:xfrm>
            <a:off x="9143998" y="3954439"/>
            <a:ext cx="2239534" cy="4097625"/>
          </a:xfrm>
          <a:prstGeom prst="line">
            <a:avLst/>
          </a:prstGeom>
          <a:ln w="7620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Oval 45">
            <a:extLst>
              <a:ext uri="{FF2B5EF4-FFF2-40B4-BE49-F238E27FC236}">
                <a16:creationId xmlns:a16="http://schemas.microsoft.com/office/drawing/2014/main" id="{3FCB64CA-C34D-6C25-E7FC-AC349EC85F63}"/>
              </a:ext>
            </a:extLst>
          </p:cNvPr>
          <p:cNvSpPr/>
          <p:nvPr/>
        </p:nvSpPr>
        <p:spPr>
          <a:xfrm>
            <a:off x="6741893" y="7621707"/>
            <a:ext cx="4641639" cy="860714"/>
          </a:xfrm>
          <a:prstGeom prst="ellipse">
            <a:avLst/>
          </a:prstGeom>
          <a:solidFill>
            <a:srgbClr val="0070C0">
              <a:alpha val="60000"/>
            </a:srgbClr>
          </a:solidFill>
          <a:ln w="76200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46E52F4-E3D7-2348-4722-EE2C579D9AB6}"/>
              </a:ext>
            </a:extLst>
          </p:cNvPr>
          <p:cNvSpPr txBox="1"/>
          <p:nvPr/>
        </p:nvSpPr>
        <p:spPr>
          <a:xfrm>
            <a:off x="12063913" y="7386826"/>
            <a:ext cx="19749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 err="1"/>
              <a:t>FootPrint</a:t>
            </a:r>
            <a:endParaRPr lang="en-US" sz="3600" b="1" dirty="0"/>
          </a:p>
        </p:txBody>
      </p:sp>
      <p:pic>
        <p:nvPicPr>
          <p:cNvPr id="67" name="Graphic 66" descr="Satellite with solid fill">
            <a:extLst>
              <a:ext uri="{FF2B5EF4-FFF2-40B4-BE49-F238E27FC236}">
                <a16:creationId xmlns:a16="http://schemas.microsoft.com/office/drawing/2014/main" id="{C14231B6-0B48-B6EF-21FF-C33F18BE0EA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548806" y="2069200"/>
            <a:ext cx="1683600" cy="1683600"/>
          </a:xfrm>
          <a:prstGeom prst="rect">
            <a:avLst/>
          </a:prstGeom>
        </p:spPr>
      </p:pic>
      <p:sp>
        <p:nvSpPr>
          <p:cNvPr id="71" name="Oval 70">
            <a:extLst>
              <a:ext uri="{FF2B5EF4-FFF2-40B4-BE49-F238E27FC236}">
                <a16:creationId xmlns:a16="http://schemas.microsoft.com/office/drawing/2014/main" id="{C75C385B-CC48-1AB5-FBAD-8739751FB330}"/>
              </a:ext>
            </a:extLst>
          </p:cNvPr>
          <p:cNvSpPr/>
          <p:nvPr/>
        </p:nvSpPr>
        <p:spPr>
          <a:xfrm>
            <a:off x="6741892" y="7631342"/>
            <a:ext cx="4641639" cy="860714"/>
          </a:xfrm>
          <a:prstGeom prst="ellipse">
            <a:avLst/>
          </a:prstGeom>
          <a:solidFill>
            <a:schemeClr val="accent4">
              <a:lumMod val="60000"/>
              <a:lumOff val="40000"/>
              <a:alpha val="60000"/>
            </a:schemeClr>
          </a:solidFill>
          <a:ln w="76200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9E38C6C-6379-FC58-333E-AD7566F97A58}"/>
              </a:ext>
            </a:extLst>
          </p:cNvPr>
          <p:cNvCxnSpPr>
            <a:cxnSpLocks/>
            <a:endCxn id="71" idx="2"/>
          </p:cNvCxnSpPr>
          <p:nvPr/>
        </p:nvCxnSpPr>
        <p:spPr>
          <a:xfrm flipH="1">
            <a:off x="6741892" y="3543300"/>
            <a:ext cx="7926605" cy="4518399"/>
          </a:xfrm>
          <a:prstGeom prst="line">
            <a:avLst/>
          </a:prstGeom>
          <a:ln w="7620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0C5527F4-83D5-E17F-87F2-DED0DF957CA4}"/>
              </a:ext>
            </a:extLst>
          </p:cNvPr>
          <p:cNvCxnSpPr>
            <a:cxnSpLocks/>
            <a:endCxn id="71" idx="6"/>
          </p:cNvCxnSpPr>
          <p:nvPr/>
        </p:nvCxnSpPr>
        <p:spPr>
          <a:xfrm flipH="1">
            <a:off x="11383531" y="3543300"/>
            <a:ext cx="3284966" cy="4518399"/>
          </a:xfrm>
          <a:prstGeom prst="line">
            <a:avLst/>
          </a:prstGeom>
          <a:ln w="7620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TextBox 87">
            <a:extLst>
              <a:ext uri="{FF2B5EF4-FFF2-40B4-BE49-F238E27FC236}">
                <a16:creationId xmlns:a16="http://schemas.microsoft.com/office/drawing/2014/main" id="{2B7E4A29-F5EA-6229-ABAA-A5062CC79FCD}"/>
              </a:ext>
            </a:extLst>
          </p:cNvPr>
          <p:cNvSpPr txBox="1"/>
          <p:nvPr/>
        </p:nvSpPr>
        <p:spPr>
          <a:xfrm>
            <a:off x="954112" y="2034871"/>
            <a:ext cx="17416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/>
              <a:t>Satellite</a:t>
            </a:r>
          </a:p>
        </p:txBody>
      </p:sp>
    </p:spTree>
    <p:extLst>
      <p:ext uri="{BB962C8B-B14F-4D97-AF65-F5344CB8AC3E}">
        <p14:creationId xmlns:p14="http://schemas.microsoft.com/office/powerpoint/2010/main" val="26560576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3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86111E-6 -3.7037E-7 L 0.31572 -0.00093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781" y="-4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6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preencoded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143000" y="4524375"/>
            <a:ext cx="5422106" cy="2762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775"/>
              </a:lnSpc>
            </a:pPr>
            <a:r>
              <a:rPr lang="en-US" sz="33099" b="1">
                <a:solidFill>
                  <a:srgbClr val="F0F0F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02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5000625" y="3998709"/>
            <a:ext cx="85725" cy="2289620"/>
            <a:chOff x="0" y="0"/>
            <a:chExt cx="114300" cy="3052826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14300" cy="3052826"/>
            </a:xfrm>
            <a:custGeom>
              <a:avLst/>
              <a:gdLst/>
              <a:ahLst/>
              <a:cxnLst/>
              <a:rect l="l" t="t" r="r" b="b"/>
              <a:pathLst>
                <a:path w="114300" h="3052826">
                  <a:moveTo>
                    <a:pt x="0" y="0"/>
                  </a:moveTo>
                  <a:lnTo>
                    <a:pt x="114300" y="0"/>
                  </a:lnTo>
                  <a:lnTo>
                    <a:pt x="114300" y="3052826"/>
                  </a:lnTo>
                  <a:lnTo>
                    <a:pt x="0" y="3052826"/>
                  </a:lnTo>
                  <a:close/>
                </a:path>
              </a:pathLst>
            </a:custGeom>
            <a:solidFill>
              <a:srgbClr val="9D9AB1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5410200" y="4923756"/>
            <a:ext cx="9733359" cy="8720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838"/>
              </a:lnSpc>
            </a:pPr>
            <a:r>
              <a:rPr lang="en-US" sz="5700" b="1" spc="3" dirty="0">
                <a:solidFill>
                  <a:srgbClr val="92A5B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Reference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Grp="1" noUngrp="1" noRot="1" noMove="1" noResize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preencoded.png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143000" y="1152525"/>
            <a:ext cx="16002000" cy="588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799"/>
              </a:lnSpc>
            </a:pPr>
            <a:r>
              <a:rPr lang="en-US" sz="3999" b="1" spc="3" dirty="0">
                <a:solidFill>
                  <a:srgbClr val="92A5B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Reference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04843" y="5321684"/>
            <a:ext cx="4953019" cy="3128962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algn="ctr">
              <a:lnSpc>
                <a:spcPts val="2160"/>
              </a:lnSpc>
            </a:pPr>
            <a:endParaRPr lang="en-US" sz="1800" b="1" spc="1" dirty="0">
              <a:solidFill>
                <a:srgbClr val="92A5BC"/>
              </a:solidFill>
              <a:latin typeface="Open Sans Bold"/>
              <a:ea typeface="Open Sans Bold"/>
              <a:cs typeface="Open Sans Bold"/>
              <a:sym typeface="Open Sans Bold"/>
            </a:endParaRPr>
          </a:p>
        </p:txBody>
      </p:sp>
      <p:sp>
        <p:nvSpPr>
          <p:cNvPr id="62" name="TextBox 22">
            <a:extLst>
              <a:ext uri="{FF2B5EF4-FFF2-40B4-BE49-F238E27FC236}">
                <a16:creationId xmlns:a16="http://schemas.microsoft.com/office/drawing/2014/main" id="{640F1111-35D1-9123-7224-19521BF5AFB2}"/>
              </a:ext>
            </a:extLst>
          </p:cNvPr>
          <p:cNvSpPr txBox="1">
            <a:spLocks/>
          </p:cNvSpPr>
          <p:nvPr/>
        </p:nvSpPr>
        <p:spPr>
          <a:xfrm>
            <a:off x="533400" y="9586321"/>
            <a:ext cx="7391400" cy="5129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038"/>
              </a:lnSpc>
            </a:pPr>
            <a:r>
              <a:rPr lang="en-US" sz="1700" dirty="0">
                <a:solidFill>
                  <a:srgbClr val="555555"/>
                </a:solidFill>
                <a:latin typeface="Open Sans"/>
                <a:ea typeface="Open Sans"/>
                <a:cs typeface="Open Sans"/>
                <a:sym typeface="Open Sans"/>
              </a:rPr>
              <a:t>[1] </a:t>
            </a:r>
            <a:r>
              <a:rPr lang="en-US" sz="1700" dirty="0">
                <a:solidFill>
                  <a:srgbClr val="555555"/>
                </a:solidFill>
                <a:latin typeface="Open Sans"/>
                <a:ea typeface="Open Sans"/>
                <a:cs typeface="Open Sans"/>
                <a:sym typeface="Open Sans"/>
                <a:hlinkClick r:id="rId4"/>
              </a:rPr>
              <a:t>RECENT DEVELOPMENT ON NTN COMMUNICATION  TOWARD 6G</a:t>
            </a:r>
            <a:endParaRPr lang="en-US" sz="1700" dirty="0">
              <a:solidFill>
                <a:srgbClr val="555555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2038"/>
              </a:lnSpc>
            </a:pPr>
            <a:r>
              <a:rPr lang="en-US" sz="1700" dirty="0">
                <a:solidFill>
                  <a:srgbClr val="555555"/>
                </a:solidFill>
                <a:latin typeface="Open Sans"/>
                <a:ea typeface="Open Sans"/>
                <a:cs typeface="Open Sans"/>
                <a:sym typeface="Open Sans"/>
              </a:rPr>
              <a:t>[2] </a:t>
            </a:r>
            <a:r>
              <a:rPr lang="en-US" sz="1700" dirty="0">
                <a:solidFill>
                  <a:srgbClr val="555555"/>
                </a:solidFill>
                <a:latin typeface="Open Sans"/>
                <a:ea typeface="Open Sans"/>
                <a:cs typeface="Open Sans"/>
                <a:sym typeface="Open Sans"/>
                <a:hlinkClick r:id="rId5"/>
              </a:rPr>
              <a:t>Satellite and terrestrial Network Convergence On The Way Toward 6G</a:t>
            </a:r>
            <a:endParaRPr lang="en-US" sz="1700" dirty="0">
              <a:solidFill>
                <a:srgbClr val="555555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391C839-5026-64CE-A215-13951854B9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8820777"/>
              </p:ext>
            </p:extLst>
          </p:nvPr>
        </p:nvGraphicFramePr>
        <p:xfrm>
          <a:off x="190500" y="1988348"/>
          <a:ext cx="17907000" cy="740741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50567">
                  <a:extLst>
                    <a:ext uri="{9D8B030D-6E8A-4147-A177-3AD203B41FA5}">
                      <a16:colId xmlns:a16="http://schemas.microsoft.com/office/drawing/2014/main" val="1716800632"/>
                    </a:ext>
                  </a:extLst>
                </a:gridCol>
                <a:gridCol w="4531133">
                  <a:extLst>
                    <a:ext uri="{9D8B030D-6E8A-4147-A177-3AD203B41FA5}">
                      <a16:colId xmlns:a16="http://schemas.microsoft.com/office/drawing/2014/main" val="3083148049"/>
                    </a:ext>
                  </a:extLst>
                </a:gridCol>
                <a:gridCol w="3581400">
                  <a:extLst>
                    <a:ext uri="{9D8B030D-6E8A-4147-A177-3AD203B41FA5}">
                      <a16:colId xmlns:a16="http://schemas.microsoft.com/office/drawing/2014/main" val="760251144"/>
                    </a:ext>
                  </a:extLst>
                </a:gridCol>
                <a:gridCol w="4762500">
                  <a:extLst>
                    <a:ext uri="{9D8B030D-6E8A-4147-A177-3AD203B41FA5}">
                      <a16:colId xmlns:a16="http://schemas.microsoft.com/office/drawing/2014/main" val="3420372703"/>
                    </a:ext>
                  </a:extLst>
                </a:gridCol>
                <a:gridCol w="3581400">
                  <a:extLst>
                    <a:ext uri="{9D8B030D-6E8A-4147-A177-3AD203B41FA5}">
                      <a16:colId xmlns:a16="http://schemas.microsoft.com/office/drawing/2014/main" val="354253203"/>
                    </a:ext>
                  </a:extLst>
                </a:gridCol>
              </a:tblGrid>
              <a:tr h="40369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Space/Beam Coverage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Network </a:t>
                      </a:r>
                      <a:r>
                        <a:rPr lang="en-US" sz="2800" dirty="0" err="1"/>
                        <a:t>Architecutre</a:t>
                      </a:r>
                      <a:endParaRPr lang="en-US" sz="2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Traffic Demand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Performance Evaluation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33608749"/>
                  </a:ext>
                </a:extLst>
              </a:tr>
              <a:tr h="2536165">
                <a:tc>
                  <a:txBody>
                    <a:bodyPr/>
                    <a:lstStyle/>
                    <a:p>
                      <a:r>
                        <a:rPr lang="en-US" sz="2800" dirty="0"/>
                        <a:t>[1]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LEO </a:t>
                      </a:r>
                      <a:r>
                        <a:rPr lang="en-US" sz="2800" dirty="0" err="1"/>
                        <a:t>Satelite</a:t>
                      </a:r>
                      <a:r>
                        <a:rPr lang="en-US" sz="2800" dirty="0"/>
                        <a:t>, 16 beams to service the cell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2800" dirty="0"/>
                        <a:t>Transparent Satellite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2800" dirty="0"/>
                        <a:t>GW-Satellite-UE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Traffic load and spatial demand distribution are not the primary experimental variables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Measured DL/UL MAC throughput; examined NTN-specific communication effects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1942262"/>
                  </a:ext>
                </a:extLst>
              </a:tr>
              <a:tr h="2128047">
                <a:tc>
                  <a:txBody>
                    <a:bodyPr/>
                    <a:lstStyle/>
                    <a:p>
                      <a:r>
                        <a:rPr lang="en-US" sz="2800" dirty="0"/>
                        <a:t>[2]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Defines Earth-fixed, quasi-Earth-fixed, and Earth-moving beam coverage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Describes transparent satellite architecture and service/feeder links.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Does not provide a controlled traffic-demand performance study.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Discusses propagation delay, Doppler shift, and link-budget challenges.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52481565"/>
                  </a:ext>
                </a:extLst>
              </a:tr>
              <a:tr h="1719928">
                <a:tc>
                  <a:txBody>
                    <a:bodyPr/>
                    <a:lstStyle/>
                    <a:p>
                      <a:r>
                        <a:rPr lang="en-US" sz="2800" dirty="0"/>
                        <a:t>Proposal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Moving LEO satellites, fixed UTs, and Earth-fixed geographical cells. Beam coverage mode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Transparent satellite architecture; forward link.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Varies traffic load and spatial traffic distribution.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Evaluates demand satisfaction, throughput, end-to-end delay, and PDR.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6165086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preencoded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143000" y="4524375"/>
            <a:ext cx="5404247" cy="2762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775"/>
              </a:lnSpc>
            </a:pPr>
            <a:r>
              <a:rPr lang="en-US" sz="33099" b="1">
                <a:solidFill>
                  <a:srgbClr val="F0F0F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03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5000625" y="3998709"/>
            <a:ext cx="85725" cy="2289620"/>
            <a:chOff x="0" y="0"/>
            <a:chExt cx="114300" cy="3052826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14300" cy="3052826"/>
            </a:xfrm>
            <a:custGeom>
              <a:avLst/>
              <a:gdLst/>
              <a:ahLst/>
              <a:cxnLst/>
              <a:rect l="l" t="t" r="r" b="b"/>
              <a:pathLst>
                <a:path w="114300" h="3052826">
                  <a:moveTo>
                    <a:pt x="0" y="0"/>
                  </a:moveTo>
                  <a:lnTo>
                    <a:pt x="114300" y="0"/>
                  </a:lnTo>
                  <a:lnTo>
                    <a:pt x="114300" y="3052826"/>
                  </a:lnTo>
                  <a:lnTo>
                    <a:pt x="0" y="3052826"/>
                  </a:lnTo>
                  <a:close/>
                </a:path>
              </a:pathLst>
            </a:custGeom>
            <a:solidFill>
              <a:srgbClr val="CCDEE0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5572125" y="3998709"/>
            <a:ext cx="10904934" cy="9751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838"/>
              </a:lnSpc>
            </a:pPr>
            <a:r>
              <a:rPr lang="en-US" sz="5700" b="1" spc="3" dirty="0">
                <a:solidFill>
                  <a:srgbClr val="92A5B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PORTFOLIO &amp; PROJECTS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5572125" y="5145291"/>
            <a:ext cx="7143750" cy="1143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99"/>
              </a:lnSpc>
            </a:pPr>
            <a:r>
              <a:rPr lang="en-US" sz="2499">
                <a:solidFill>
                  <a:srgbClr val="9D9AB1"/>
                </a:solidFill>
                <a:latin typeface="Open Sans"/>
                <a:ea typeface="Open Sans"/>
                <a:cs typeface="Open Sans"/>
                <a:sym typeface="Open Sans"/>
              </a:rPr>
              <a:t>Showcasing selected works, successful case studies, and impactful outcomes.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Grp="1" noUngrp="1" noRot="1" noMove="1" noResize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preencoded.png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714500" y="1152525"/>
            <a:ext cx="14859000" cy="12039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 b="1" spc="3" dirty="0">
                <a:solidFill>
                  <a:srgbClr val="92A5BC"/>
                </a:solidFill>
                <a:latin typeface="Montserrat Bold"/>
                <a:sym typeface="Open Sans"/>
              </a:rPr>
              <a:t>System Architecture</a:t>
            </a:r>
          </a:p>
          <a:p>
            <a:pPr algn="ctr">
              <a:lnSpc>
                <a:spcPts val="4799"/>
              </a:lnSpc>
            </a:pPr>
            <a:endParaRPr lang="en-US" sz="3999" b="1" spc="3" dirty="0">
              <a:solidFill>
                <a:srgbClr val="92A5BC"/>
              </a:solidFill>
              <a:latin typeface="Montserrat Bold"/>
              <a:ea typeface="Montserrat Bold"/>
              <a:cs typeface="Montserrat Bold"/>
              <a:sym typeface="Montserrat Bold"/>
            </a:endParaRPr>
          </a:p>
        </p:txBody>
      </p:sp>
      <p:grpSp>
        <p:nvGrpSpPr>
          <p:cNvPr id="49" name="群組 1">
            <a:extLst>
              <a:ext uri="{FF2B5EF4-FFF2-40B4-BE49-F238E27FC236}">
                <a16:creationId xmlns:a16="http://schemas.microsoft.com/office/drawing/2014/main" id="{2B621BC2-6CFF-3639-9E8C-5314B9ED9E8C}"/>
              </a:ext>
            </a:extLst>
          </p:cNvPr>
          <p:cNvGrpSpPr/>
          <p:nvPr/>
        </p:nvGrpSpPr>
        <p:grpSpPr>
          <a:xfrm>
            <a:off x="2057400" y="2356443"/>
            <a:ext cx="13868400" cy="5495351"/>
            <a:chOff x="597822" y="1220152"/>
            <a:chExt cx="10859192" cy="4071728"/>
          </a:xfrm>
        </p:grpSpPr>
        <p:sp>
          <p:nvSpPr>
            <p:cNvPr id="50" name="平行四邊形 204">
              <a:extLst>
                <a:ext uri="{FF2B5EF4-FFF2-40B4-BE49-F238E27FC236}">
                  <a16:creationId xmlns:a16="http://schemas.microsoft.com/office/drawing/2014/main" id="{AB17E6B1-E565-FABE-045B-7375E2730FD9}"/>
                </a:ext>
              </a:extLst>
            </p:cNvPr>
            <p:cNvSpPr/>
            <p:nvPr/>
          </p:nvSpPr>
          <p:spPr>
            <a:xfrm>
              <a:off x="2565014" y="3307743"/>
              <a:ext cx="7653867" cy="1546577"/>
            </a:xfrm>
            <a:prstGeom prst="parallelogram">
              <a:avLst>
                <a:gd name="adj" fmla="val 122985"/>
              </a:avLst>
            </a:prstGeom>
            <a:solidFill>
              <a:schemeClr val="bg2"/>
            </a:solidFill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cxnSp>
          <p:nvCxnSpPr>
            <p:cNvPr id="51" name="直線接點 216">
              <a:extLst>
                <a:ext uri="{FF2B5EF4-FFF2-40B4-BE49-F238E27FC236}">
                  <a16:creationId xmlns:a16="http://schemas.microsoft.com/office/drawing/2014/main" id="{961C9856-699D-395D-40E9-EFED109CDB6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61537" y="3299144"/>
              <a:ext cx="1862897" cy="1538417"/>
            </a:xfrm>
            <a:prstGeom prst="line">
              <a:avLst/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直線接點 217">
              <a:extLst>
                <a:ext uri="{FF2B5EF4-FFF2-40B4-BE49-F238E27FC236}">
                  <a16:creationId xmlns:a16="http://schemas.microsoft.com/office/drawing/2014/main" id="{3B8E1593-0D8C-3CB1-0A39-54226219FFF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883245" y="3316758"/>
              <a:ext cx="1862897" cy="1538417"/>
            </a:xfrm>
            <a:prstGeom prst="line">
              <a:avLst/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直線接點 219">
              <a:extLst>
                <a:ext uri="{FF2B5EF4-FFF2-40B4-BE49-F238E27FC236}">
                  <a16:creationId xmlns:a16="http://schemas.microsoft.com/office/drawing/2014/main" id="{45D203F0-DDB8-C039-AA0E-D8C577A5E504}"/>
                </a:ext>
              </a:extLst>
            </p:cNvPr>
            <p:cNvCxnSpPr>
              <a:cxnSpLocks/>
            </p:cNvCxnSpPr>
            <p:nvPr/>
          </p:nvCxnSpPr>
          <p:spPr>
            <a:xfrm>
              <a:off x="4209230" y="3529347"/>
              <a:ext cx="5725621" cy="465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直線接點 220">
              <a:extLst>
                <a:ext uri="{FF2B5EF4-FFF2-40B4-BE49-F238E27FC236}">
                  <a16:creationId xmlns:a16="http://schemas.microsoft.com/office/drawing/2014/main" id="{475E9C64-2872-E682-84B2-4BB1A9D74AF8}"/>
                </a:ext>
              </a:extLst>
            </p:cNvPr>
            <p:cNvCxnSpPr>
              <a:cxnSpLocks/>
            </p:cNvCxnSpPr>
            <p:nvPr/>
          </p:nvCxnSpPr>
          <p:spPr>
            <a:xfrm>
              <a:off x="3877236" y="3777595"/>
              <a:ext cx="5738005" cy="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線接點 221">
              <a:extLst>
                <a:ext uri="{FF2B5EF4-FFF2-40B4-BE49-F238E27FC236}">
                  <a16:creationId xmlns:a16="http://schemas.microsoft.com/office/drawing/2014/main" id="{82DCC549-B2B9-29FA-863D-9E06DB7FDE5B}"/>
                </a:ext>
              </a:extLst>
            </p:cNvPr>
            <p:cNvCxnSpPr>
              <a:cxnSpLocks/>
            </p:cNvCxnSpPr>
            <p:nvPr/>
          </p:nvCxnSpPr>
          <p:spPr>
            <a:xfrm>
              <a:off x="2816524" y="4637025"/>
              <a:ext cx="5716207" cy="16789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直線接點 222">
              <a:extLst>
                <a:ext uri="{FF2B5EF4-FFF2-40B4-BE49-F238E27FC236}">
                  <a16:creationId xmlns:a16="http://schemas.microsoft.com/office/drawing/2014/main" id="{AE8C20DF-09E9-32CB-DC43-623046448DBF}"/>
                </a:ext>
              </a:extLst>
            </p:cNvPr>
            <p:cNvCxnSpPr>
              <a:cxnSpLocks/>
            </p:cNvCxnSpPr>
            <p:nvPr/>
          </p:nvCxnSpPr>
          <p:spPr>
            <a:xfrm>
              <a:off x="3061271" y="4449759"/>
              <a:ext cx="5725668" cy="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直線接點 224">
              <a:extLst>
                <a:ext uri="{FF2B5EF4-FFF2-40B4-BE49-F238E27FC236}">
                  <a16:creationId xmlns:a16="http://schemas.microsoft.com/office/drawing/2014/main" id="{B5DDB9E2-EC03-12FE-64C2-6FBEA1A3311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897767" y="3326667"/>
              <a:ext cx="1877976" cy="1527653"/>
            </a:xfrm>
            <a:prstGeom prst="line">
              <a:avLst/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文字方塊 226">
                  <a:extLst>
                    <a:ext uri="{FF2B5EF4-FFF2-40B4-BE49-F238E27FC236}">
                      <a16:creationId xmlns:a16="http://schemas.microsoft.com/office/drawing/2014/main" id="{94BAC47B-7B7A-BA32-17AA-77935DF73C01}"/>
                    </a:ext>
                  </a:extLst>
                </p:cNvPr>
                <p:cNvSpPr txBox="1"/>
                <p:nvPr/>
              </p:nvSpPr>
              <p:spPr>
                <a:xfrm>
                  <a:off x="5992407" y="1238372"/>
                  <a:ext cx="127534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kumimoji="1" lang="en-US" altLang="zh-TW" i="1" smtClean="0">
                            <a:latin typeface="Cambria Math" panose="02040503050406030204" pitchFamily="18" charset="0"/>
                          </a:rPr>
                          <m:t>𝑖</m:t>
                        </m:r>
                      </m:oMath>
                    </m:oMathPara>
                  </a14:m>
                  <a:endParaRPr kumimoji="1" lang="zh-TW" altLang="en-US" dirty="0"/>
                </a:p>
              </p:txBody>
            </p:sp>
          </mc:Choice>
          <mc:Fallback xmlns="">
            <p:sp>
              <p:nvSpPr>
                <p:cNvPr id="227" name="文字方塊 226">
                  <a:extLst>
                    <a:ext uri="{FF2B5EF4-FFF2-40B4-BE49-F238E27FC236}">
                      <a16:creationId xmlns:a16="http://schemas.microsoft.com/office/drawing/2014/main" id="{FC56EDE6-E86A-5573-A03F-AE6FA76296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92407" y="1238372"/>
                  <a:ext cx="127534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36364" r="-36364" b="-4348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59" name="Picture 2" descr="Cartoon Satellite 影像– 瀏覽103,747 個素材庫相片、向量圖和影片| Adobe Stock">
              <a:extLst>
                <a:ext uri="{FF2B5EF4-FFF2-40B4-BE49-F238E27FC236}">
                  <a16:creationId xmlns:a16="http://schemas.microsoft.com/office/drawing/2014/main" id="{F0D42BB6-69C4-A40C-AD4D-26BEF259336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/>
            <a:srcRect l="12470" t="8348" r="13232" b="16937"/>
            <a:stretch>
              <a:fillRect/>
            </a:stretch>
          </p:blipFill>
          <p:spPr bwMode="auto">
            <a:xfrm>
              <a:off x="1260562" y="1289737"/>
              <a:ext cx="717979" cy="7220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60" name="直線接點 228">
              <a:extLst>
                <a:ext uri="{FF2B5EF4-FFF2-40B4-BE49-F238E27FC236}">
                  <a16:creationId xmlns:a16="http://schemas.microsoft.com/office/drawing/2014/main" id="{7CC0E19F-DB33-A092-9BFE-5957B90CCDB7}"/>
                </a:ext>
              </a:extLst>
            </p:cNvPr>
            <p:cNvCxnSpPr>
              <a:cxnSpLocks/>
            </p:cNvCxnSpPr>
            <p:nvPr/>
          </p:nvCxnSpPr>
          <p:spPr>
            <a:xfrm>
              <a:off x="1557005" y="1876948"/>
              <a:ext cx="0" cy="221525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" name="文字方塊 230">
                  <a:extLst>
                    <a:ext uri="{FF2B5EF4-FFF2-40B4-BE49-F238E27FC236}">
                      <a16:creationId xmlns:a16="http://schemas.microsoft.com/office/drawing/2014/main" id="{3441D2D7-43D1-0DFF-C809-6C2EC45B988C}"/>
                    </a:ext>
                  </a:extLst>
                </p:cNvPr>
                <p:cNvSpPr txBox="1"/>
                <p:nvPr/>
              </p:nvSpPr>
              <p:spPr>
                <a:xfrm>
                  <a:off x="1654765" y="1255338"/>
                  <a:ext cx="53149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kumimoji="1" lang="en-US" altLang="zh-TW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kumimoji="1" lang="en-US" altLang="zh-TW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oMath>
                    </m:oMathPara>
                  </a14:m>
                  <a:endParaRPr kumimoji="1" lang="zh-TW" altLang="en-US" dirty="0"/>
                </a:p>
              </p:txBody>
            </p:sp>
          </mc:Choice>
          <mc:Fallback xmlns="">
            <p:sp>
              <p:nvSpPr>
                <p:cNvPr id="231" name="文字方塊 230">
                  <a:extLst>
                    <a:ext uri="{FF2B5EF4-FFF2-40B4-BE49-F238E27FC236}">
                      <a16:creationId xmlns:a16="http://schemas.microsoft.com/office/drawing/2014/main" id="{7A43F93B-71D2-08D5-BA0B-232310C6CD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54765" y="1255338"/>
                  <a:ext cx="531492" cy="276999"/>
                </a:xfrm>
                <a:prstGeom prst="rect">
                  <a:avLst/>
                </a:prstGeom>
                <a:blipFill>
                  <a:blip r:embed="rId8"/>
                  <a:stretch>
                    <a:fillRect l="-9302" r="-9302" b="-4348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2" name="直線接點 231">
              <a:extLst>
                <a:ext uri="{FF2B5EF4-FFF2-40B4-BE49-F238E27FC236}">
                  <a16:creationId xmlns:a16="http://schemas.microsoft.com/office/drawing/2014/main" id="{FDA4E754-1724-E51A-4B90-7CDE30738433}"/>
                </a:ext>
              </a:extLst>
            </p:cNvPr>
            <p:cNvCxnSpPr>
              <a:cxnSpLocks/>
            </p:cNvCxnSpPr>
            <p:nvPr/>
          </p:nvCxnSpPr>
          <p:spPr>
            <a:xfrm>
              <a:off x="10237510" y="1874151"/>
              <a:ext cx="0" cy="221525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文字方塊 233">
                  <a:extLst>
                    <a:ext uri="{FF2B5EF4-FFF2-40B4-BE49-F238E27FC236}">
                      <a16:creationId xmlns:a16="http://schemas.microsoft.com/office/drawing/2014/main" id="{E693E3A8-CFD0-E1BA-D924-4BB689EB4CF4}"/>
                    </a:ext>
                  </a:extLst>
                </p:cNvPr>
                <p:cNvSpPr txBox="1"/>
                <p:nvPr/>
              </p:nvSpPr>
              <p:spPr>
                <a:xfrm>
                  <a:off x="10349741" y="1220152"/>
                  <a:ext cx="53149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kumimoji="1" lang="en-US" altLang="zh-TW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kumimoji="1" lang="en-US" altLang="zh-TW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oMath>
                    </m:oMathPara>
                  </a14:m>
                  <a:endParaRPr kumimoji="1" lang="zh-TW" altLang="en-US" dirty="0"/>
                </a:p>
              </p:txBody>
            </p:sp>
          </mc:Choice>
          <mc:Fallback xmlns="">
            <p:sp>
              <p:nvSpPr>
                <p:cNvPr id="234" name="文字方塊 233">
                  <a:extLst>
                    <a:ext uri="{FF2B5EF4-FFF2-40B4-BE49-F238E27FC236}">
                      <a16:creationId xmlns:a16="http://schemas.microsoft.com/office/drawing/2014/main" id="{A723C41D-EF17-5710-7A4F-6F3BAB41DE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49741" y="1220152"/>
                  <a:ext cx="531492" cy="276999"/>
                </a:xfrm>
                <a:prstGeom prst="rect">
                  <a:avLst/>
                </a:prstGeom>
                <a:blipFill>
                  <a:blip r:embed="rId10"/>
                  <a:stretch>
                    <a:fillRect l="-11905" r="-11905" b="-8696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4" name="直線接點 234">
              <a:extLst>
                <a:ext uri="{FF2B5EF4-FFF2-40B4-BE49-F238E27FC236}">
                  <a16:creationId xmlns:a16="http://schemas.microsoft.com/office/drawing/2014/main" id="{58D64582-241B-1EFE-CA78-EC8B86BCB98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8811" y="4092206"/>
              <a:ext cx="967498" cy="786488"/>
            </a:xfrm>
            <a:prstGeom prst="line">
              <a:avLst/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文字方塊 237">
                  <a:extLst>
                    <a:ext uri="{FF2B5EF4-FFF2-40B4-BE49-F238E27FC236}">
                      <a16:creationId xmlns:a16="http://schemas.microsoft.com/office/drawing/2014/main" id="{C7891B2B-C928-96B6-D461-E037736E905B}"/>
                    </a:ext>
                  </a:extLst>
                </p:cNvPr>
                <p:cNvSpPr txBox="1"/>
                <p:nvPr/>
              </p:nvSpPr>
              <p:spPr>
                <a:xfrm>
                  <a:off x="7002317" y="3280572"/>
                  <a:ext cx="755115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kumimoji="1" lang="en-US" altLang="zh-TW" b="0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kumimoji="1" lang="zh-TW" altLang="en-US" dirty="0"/>
                </a:p>
              </p:txBody>
            </p:sp>
          </mc:Choice>
          <mc:Fallback xmlns="">
            <p:sp>
              <p:nvSpPr>
                <p:cNvPr id="238" name="文字方塊 237">
                  <a:extLst>
                    <a:ext uri="{FF2B5EF4-FFF2-40B4-BE49-F238E27FC236}">
                      <a16:creationId xmlns:a16="http://schemas.microsoft.com/office/drawing/2014/main" id="{91F3A146-E2C3-5179-7B15-7CAD9417CF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02317" y="3280572"/>
                  <a:ext cx="755115" cy="276999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文字方塊 238">
                  <a:extLst>
                    <a:ext uri="{FF2B5EF4-FFF2-40B4-BE49-F238E27FC236}">
                      <a16:creationId xmlns:a16="http://schemas.microsoft.com/office/drawing/2014/main" id="{487A1401-E2F8-8965-736A-E540F4438F0A}"/>
                    </a:ext>
                  </a:extLst>
                </p:cNvPr>
                <p:cNvSpPr txBox="1"/>
                <p:nvPr/>
              </p:nvSpPr>
              <p:spPr>
                <a:xfrm>
                  <a:off x="5832069" y="4363650"/>
                  <a:ext cx="755115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kumimoji="1" lang="en-US" altLang="zh-TW" b="0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kumimoji="1" lang="zh-TW" altLang="en-US" dirty="0"/>
                </a:p>
              </p:txBody>
            </p:sp>
          </mc:Choice>
          <mc:Fallback xmlns="">
            <p:sp>
              <p:nvSpPr>
                <p:cNvPr id="239" name="文字方塊 238">
                  <a:extLst>
                    <a:ext uri="{FF2B5EF4-FFF2-40B4-BE49-F238E27FC236}">
                      <a16:creationId xmlns:a16="http://schemas.microsoft.com/office/drawing/2014/main" id="{591967CE-C726-F68B-81FD-208BDC1EC9A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32069" y="4363650"/>
                  <a:ext cx="755115" cy="276999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7" name="直線接點 239">
              <a:extLst>
                <a:ext uri="{FF2B5EF4-FFF2-40B4-BE49-F238E27FC236}">
                  <a16:creationId xmlns:a16="http://schemas.microsoft.com/office/drawing/2014/main" id="{93FAB7FF-6340-BDE9-E81D-6B4E1399FF1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91924" y="1885067"/>
              <a:ext cx="2774741" cy="222832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直線接點 240">
              <a:extLst>
                <a:ext uri="{FF2B5EF4-FFF2-40B4-BE49-F238E27FC236}">
                  <a16:creationId xmlns:a16="http://schemas.microsoft.com/office/drawing/2014/main" id="{3B7AB0D6-AA5E-AC86-D61A-647FA58C7E3F}"/>
                </a:ext>
              </a:extLst>
            </p:cNvPr>
            <p:cNvCxnSpPr>
              <a:cxnSpLocks/>
            </p:cNvCxnSpPr>
            <p:nvPr/>
          </p:nvCxnSpPr>
          <p:spPr>
            <a:xfrm>
              <a:off x="5760655" y="1892324"/>
              <a:ext cx="2983584" cy="222833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9" name="矩形 241">
              <a:extLst>
                <a:ext uri="{FF2B5EF4-FFF2-40B4-BE49-F238E27FC236}">
                  <a16:creationId xmlns:a16="http://schemas.microsoft.com/office/drawing/2014/main" id="{29A89177-A3DA-7829-9764-7A22A1CB3BB8}"/>
                </a:ext>
              </a:extLst>
            </p:cNvPr>
            <p:cNvSpPr/>
            <p:nvPr/>
          </p:nvSpPr>
          <p:spPr>
            <a:xfrm>
              <a:off x="1495425" y="4022909"/>
              <a:ext cx="55063" cy="66500"/>
            </a:xfrm>
            <a:prstGeom prst="rect">
              <a:avLst/>
            </a:prstGeom>
            <a:noFill/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70" name="橢圓 242">
              <a:extLst>
                <a:ext uri="{FF2B5EF4-FFF2-40B4-BE49-F238E27FC236}">
                  <a16:creationId xmlns:a16="http://schemas.microsoft.com/office/drawing/2014/main" id="{C11A773C-7F2F-917F-BA37-55C033B186A5}"/>
                </a:ext>
              </a:extLst>
            </p:cNvPr>
            <p:cNvSpPr/>
            <p:nvPr/>
          </p:nvSpPr>
          <p:spPr>
            <a:xfrm>
              <a:off x="1523348" y="4068715"/>
              <a:ext cx="54280" cy="57875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cxnSp>
          <p:nvCxnSpPr>
            <p:cNvPr id="71" name="直線接點 244">
              <a:extLst>
                <a:ext uri="{FF2B5EF4-FFF2-40B4-BE49-F238E27FC236}">
                  <a16:creationId xmlns:a16="http://schemas.microsoft.com/office/drawing/2014/main" id="{8BDA4C26-A3CF-835B-B6BB-E5E0519E3EC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28673" y="3338393"/>
              <a:ext cx="1885890" cy="1538417"/>
            </a:xfrm>
            <a:prstGeom prst="line">
              <a:avLst/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直線接點 245">
              <a:extLst>
                <a:ext uri="{FF2B5EF4-FFF2-40B4-BE49-F238E27FC236}">
                  <a16:creationId xmlns:a16="http://schemas.microsoft.com/office/drawing/2014/main" id="{8ED091B3-E70B-BBE3-E35C-5918ACAD185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818658" y="3327960"/>
              <a:ext cx="1862897" cy="1538417"/>
            </a:xfrm>
            <a:prstGeom prst="line">
              <a:avLst/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平行四邊形 247">
              <a:extLst>
                <a:ext uri="{FF2B5EF4-FFF2-40B4-BE49-F238E27FC236}">
                  <a16:creationId xmlns:a16="http://schemas.microsoft.com/office/drawing/2014/main" id="{0A6E592B-43EB-862D-ED9C-650B9FB5A7B2}"/>
                </a:ext>
              </a:extLst>
            </p:cNvPr>
            <p:cNvSpPr/>
            <p:nvPr/>
          </p:nvSpPr>
          <p:spPr>
            <a:xfrm>
              <a:off x="644766" y="3313819"/>
              <a:ext cx="5023335" cy="1544018"/>
            </a:xfrm>
            <a:prstGeom prst="parallelogram">
              <a:avLst>
                <a:gd name="adj" fmla="val 122452"/>
              </a:avLst>
            </a:prstGeom>
            <a:noFill/>
            <a:ln w="19050">
              <a:solidFill>
                <a:schemeClr val="tx1"/>
              </a:solidFill>
              <a:prstDash val="dash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74" name="橢圓 250">
              <a:extLst>
                <a:ext uri="{FF2B5EF4-FFF2-40B4-BE49-F238E27FC236}">
                  <a16:creationId xmlns:a16="http://schemas.microsoft.com/office/drawing/2014/main" id="{C7B7950E-B05C-DD42-3F4F-BE6F232E0F73}"/>
                </a:ext>
              </a:extLst>
            </p:cNvPr>
            <p:cNvSpPr/>
            <p:nvPr/>
          </p:nvSpPr>
          <p:spPr>
            <a:xfrm>
              <a:off x="4809000" y="4827656"/>
              <a:ext cx="54280" cy="57875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75" name="平行四邊形 251">
              <a:extLst>
                <a:ext uri="{FF2B5EF4-FFF2-40B4-BE49-F238E27FC236}">
                  <a16:creationId xmlns:a16="http://schemas.microsoft.com/office/drawing/2014/main" id="{250D661B-0C4C-0215-ADE2-8758282CD6D4}"/>
                </a:ext>
              </a:extLst>
            </p:cNvPr>
            <p:cNvSpPr/>
            <p:nvPr/>
          </p:nvSpPr>
          <p:spPr>
            <a:xfrm>
              <a:off x="6384998" y="3314386"/>
              <a:ext cx="5072016" cy="1544018"/>
            </a:xfrm>
            <a:prstGeom prst="parallelogram">
              <a:avLst>
                <a:gd name="adj" fmla="val 122452"/>
              </a:avLst>
            </a:prstGeom>
            <a:noFill/>
            <a:ln>
              <a:solidFill>
                <a:schemeClr val="tx1"/>
              </a:solidFill>
              <a:prstDash val="dash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" name="文字方塊 259">
                  <a:extLst>
                    <a:ext uri="{FF2B5EF4-FFF2-40B4-BE49-F238E27FC236}">
                      <a16:creationId xmlns:a16="http://schemas.microsoft.com/office/drawing/2014/main" id="{2FE3CC8B-5F39-6A86-2781-C53870DAFDA0}"/>
                    </a:ext>
                  </a:extLst>
                </p:cNvPr>
                <p:cNvSpPr txBox="1"/>
                <p:nvPr/>
              </p:nvSpPr>
              <p:spPr>
                <a:xfrm>
                  <a:off x="5501242" y="3280505"/>
                  <a:ext cx="755115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kumimoji="1" lang="en-US" altLang="zh-TW" b="0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kumimoji="1" lang="zh-TW" altLang="en-US" dirty="0"/>
                </a:p>
              </p:txBody>
            </p:sp>
          </mc:Choice>
          <mc:Fallback xmlns="">
            <p:sp>
              <p:nvSpPr>
                <p:cNvPr id="260" name="文字方塊 259">
                  <a:extLst>
                    <a:ext uri="{FF2B5EF4-FFF2-40B4-BE49-F238E27FC236}">
                      <a16:creationId xmlns:a16="http://schemas.microsoft.com/office/drawing/2014/main" id="{7973DF3B-D818-0867-7BAC-57931C83A6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01242" y="3280505"/>
                  <a:ext cx="755115" cy="276999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文字方塊 260">
                  <a:extLst>
                    <a:ext uri="{FF2B5EF4-FFF2-40B4-BE49-F238E27FC236}">
                      <a16:creationId xmlns:a16="http://schemas.microsoft.com/office/drawing/2014/main" id="{3961916B-D487-EC24-C678-57C0EE968038}"/>
                    </a:ext>
                  </a:extLst>
                </p:cNvPr>
                <p:cNvSpPr txBox="1"/>
                <p:nvPr/>
              </p:nvSpPr>
              <p:spPr>
                <a:xfrm>
                  <a:off x="4414924" y="4364202"/>
                  <a:ext cx="755115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kumimoji="1" lang="en-US" altLang="zh-TW" b="0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kumimoji="1" lang="zh-TW" altLang="en-US" dirty="0"/>
                </a:p>
              </p:txBody>
            </p:sp>
          </mc:Choice>
          <mc:Fallback xmlns="">
            <p:sp>
              <p:nvSpPr>
                <p:cNvPr id="261" name="文字方塊 260">
                  <a:extLst>
                    <a:ext uri="{FF2B5EF4-FFF2-40B4-BE49-F238E27FC236}">
                      <a16:creationId xmlns:a16="http://schemas.microsoft.com/office/drawing/2014/main" id="{D618D246-3F78-866E-FD3A-F93BEE7CC9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14924" y="4364202"/>
                  <a:ext cx="755115" cy="276999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8" name="弧線 263">
              <a:extLst>
                <a:ext uri="{FF2B5EF4-FFF2-40B4-BE49-F238E27FC236}">
                  <a16:creationId xmlns:a16="http://schemas.microsoft.com/office/drawing/2014/main" id="{1F3747CE-84C5-5E2E-F355-E248DF509D9F}"/>
                </a:ext>
              </a:extLst>
            </p:cNvPr>
            <p:cNvSpPr/>
            <p:nvPr/>
          </p:nvSpPr>
          <p:spPr>
            <a:xfrm rot="10089701">
              <a:off x="9762617" y="3191813"/>
              <a:ext cx="180661" cy="192541"/>
            </a:xfrm>
            <a:prstGeom prst="arc">
              <a:avLst>
                <a:gd name="adj1" fmla="val 123958"/>
                <a:gd name="adj2" fmla="val 4870853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9" name="文字方塊 264">
                  <a:extLst>
                    <a:ext uri="{FF2B5EF4-FFF2-40B4-BE49-F238E27FC236}">
                      <a16:creationId xmlns:a16="http://schemas.microsoft.com/office/drawing/2014/main" id="{8883CD23-DB87-A05C-7E63-FB8C17A5B398}"/>
                    </a:ext>
                  </a:extLst>
                </p:cNvPr>
                <p:cNvSpPr txBox="1"/>
                <p:nvPr/>
              </p:nvSpPr>
              <p:spPr>
                <a:xfrm>
                  <a:off x="9906466" y="3039759"/>
                  <a:ext cx="18684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kumimoji="1" lang="en-US" altLang="zh-TW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oMath>
                    </m:oMathPara>
                  </a14:m>
                  <a:endParaRPr kumimoji="1" lang="zh-TW" altLang="en-US" dirty="0"/>
                </a:p>
              </p:txBody>
            </p:sp>
          </mc:Choice>
          <mc:Fallback xmlns="">
            <p:sp>
              <p:nvSpPr>
                <p:cNvPr id="265" name="文字方塊 264">
                  <a:extLst>
                    <a:ext uri="{FF2B5EF4-FFF2-40B4-BE49-F238E27FC236}">
                      <a16:creationId xmlns:a16="http://schemas.microsoft.com/office/drawing/2014/main" id="{73A73DFC-8519-7D0D-5B8E-6AD346E049A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06466" y="3039759"/>
                  <a:ext cx="186846" cy="276999"/>
                </a:xfrm>
                <a:prstGeom prst="rect">
                  <a:avLst/>
                </a:prstGeom>
                <a:blipFill>
                  <a:blip r:embed="rId20"/>
                  <a:stretch>
                    <a:fillRect l="-33333" r="-33333" b="-909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80" name="Picture 2" descr="Cartoon Satellite 影像– 瀏覽103,747 個素材庫相片、向量圖和影片| Adobe Stock">
              <a:extLst>
                <a:ext uri="{FF2B5EF4-FFF2-40B4-BE49-F238E27FC236}">
                  <a16:creationId xmlns:a16="http://schemas.microsoft.com/office/drawing/2014/main" id="{D0FD4160-63A1-47B0-D8D7-BBA0D13CB4F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/>
            <a:srcRect l="12470" t="8348" r="13232" b="16937"/>
            <a:stretch>
              <a:fillRect/>
            </a:stretch>
          </p:blipFill>
          <p:spPr bwMode="auto">
            <a:xfrm>
              <a:off x="5473675" y="1295604"/>
              <a:ext cx="717979" cy="7220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1" name="Picture 2" descr="Cartoon Satellite 影像– 瀏覽103,747 個素材庫相片、向量圖和影片| Adobe Stock">
              <a:extLst>
                <a:ext uri="{FF2B5EF4-FFF2-40B4-BE49-F238E27FC236}">
                  <a16:creationId xmlns:a16="http://schemas.microsoft.com/office/drawing/2014/main" id="{46200641-C914-3890-D488-D976E97CBB3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/>
            <a:srcRect l="12470" t="8348" r="13232" b="16937"/>
            <a:stretch>
              <a:fillRect/>
            </a:stretch>
          </p:blipFill>
          <p:spPr bwMode="auto">
            <a:xfrm>
              <a:off x="9903917" y="1244452"/>
              <a:ext cx="717979" cy="7220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2" name="橢圓 268">
              <a:extLst>
                <a:ext uri="{FF2B5EF4-FFF2-40B4-BE49-F238E27FC236}">
                  <a16:creationId xmlns:a16="http://schemas.microsoft.com/office/drawing/2014/main" id="{06E85663-B0E8-AD5F-67CC-07882A28715C}"/>
                </a:ext>
              </a:extLst>
            </p:cNvPr>
            <p:cNvSpPr/>
            <p:nvPr/>
          </p:nvSpPr>
          <p:spPr>
            <a:xfrm>
              <a:off x="597822" y="4850843"/>
              <a:ext cx="54280" cy="57875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cxnSp>
          <p:nvCxnSpPr>
            <p:cNvPr id="83" name="直線箭頭接點 269">
              <a:extLst>
                <a:ext uri="{FF2B5EF4-FFF2-40B4-BE49-F238E27FC236}">
                  <a16:creationId xmlns:a16="http://schemas.microsoft.com/office/drawing/2014/main" id="{4C99D1F2-78EF-1917-13A1-182A87DBB3E7}"/>
                </a:ext>
              </a:extLst>
            </p:cNvPr>
            <p:cNvCxnSpPr>
              <a:cxnSpLocks/>
            </p:cNvCxnSpPr>
            <p:nvPr/>
          </p:nvCxnSpPr>
          <p:spPr>
            <a:xfrm>
              <a:off x="664143" y="4104914"/>
              <a:ext cx="10757859" cy="24118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直線接點 270">
              <a:extLst>
                <a:ext uri="{FF2B5EF4-FFF2-40B4-BE49-F238E27FC236}">
                  <a16:creationId xmlns:a16="http://schemas.microsoft.com/office/drawing/2014/main" id="{784AEAA9-D627-45E1-1CD8-F87516E222B9}"/>
                </a:ext>
              </a:extLst>
            </p:cNvPr>
            <p:cNvCxnSpPr>
              <a:cxnSpLocks/>
            </p:cNvCxnSpPr>
            <p:nvPr/>
          </p:nvCxnSpPr>
          <p:spPr>
            <a:xfrm>
              <a:off x="1550488" y="1863878"/>
              <a:ext cx="3121199" cy="222833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直線接點 271">
              <a:extLst>
                <a:ext uri="{FF2B5EF4-FFF2-40B4-BE49-F238E27FC236}">
                  <a16:creationId xmlns:a16="http://schemas.microsoft.com/office/drawing/2014/main" id="{38EFF0A6-7516-E650-7971-517D69EE282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330415" y="1857638"/>
              <a:ext cx="2912356" cy="2228329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文字方塊 273">
              <a:extLst>
                <a:ext uri="{FF2B5EF4-FFF2-40B4-BE49-F238E27FC236}">
                  <a16:creationId xmlns:a16="http://schemas.microsoft.com/office/drawing/2014/main" id="{B4E33B81-519B-2479-BFFA-8AB75BF2F320}"/>
                </a:ext>
              </a:extLst>
            </p:cNvPr>
            <p:cNvSpPr txBox="1"/>
            <p:nvPr/>
          </p:nvSpPr>
          <p:spPr>
            <a:xfrm>
              <a:off x="4468874" y="5014881"/>
              <a:ext cx="1765548" cy="276999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kumimoji="1" lang="en-US" altLang="zh-TW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Region of Interest</a:t>
              </a:r>
              <a:endParaRPr kumimoji="1" lang="zh-TW" altLang="en-US" b="1" dirty="0"/>
            </a:p>
          </p:txBody>
        </p:sp>
        <p:pic>
          <p:nvPicPr>
            <p:cNvPr id="87" name="Picture 2" descr="Satellite dish Computer Icons Television, cartoon satellite, satellite  Television, satellite png | PNGEgg">
              <a:extLst>
                <a:ext uri="{FF2B5EF4-FFF2-40B4-BE49-F238E27FC236}">
                  <a16:creationId xmlns:a16="http://schemas.microsoft.com/office/drawing/2014/main" id="{67DC947F-FA3B-5A44-FDBE-BA3B7573776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1"/>
            <a:srcRect/>
            <a:stretch/>
          </p:blipFill>
          <p:spPr bwMode="auto">
            <a:xfrm>
              <a:off x="2526232" y="3431792"/>
              <a:ext cx="684215" cy="68421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8" name="Picture 2" descr="Satellite dish Computer Icons Television, cartoon satellite, satellite  Television, satellite png | PNGEgg">
              <a:extLst>
                <a:ext uri="{FF2B5EF4-FFF2-40B4-BE49-F238E27FC236}">
                  <a16:creationId xmlns:a16="http://schemas.microsoft.com/office/drawing/2014/main" id="{6BB67203-42F2-E1C5-5159-D16BF28C284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1"/>
            <a:srcRect/>
            <a:stretch/>
          </p:blipFill>
          <p:spPr bwMode="auto">
            <a:xfrm flipH="1">
              <a:off x="9142918" y="3444860"/>
              <a:ext cx="684215" cy="68421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9" name="弧線 283">
              <a:extLst>
                <a:ext uri="{FF2B5EF4-FFF2-40B4-BE49-F238E27FC236}">
                  <a16:creationId xmlns:a16="http://schemas.microsoft.com/office/drawing/2014/main" id="{29650B64-E27E-5AC9-F85B-AE1E38FAF26F}"/>
                </a:ext>
              </a:extLst>
            </p:cNvPr>
            <p:cNvSpPr/>
            <p:nvPr/>
          </p:nvSpPr>
          <p:spPr>
            <a:xfrm>
              <a:off x="644766" y="4737833"/>
              <a:ext cx="227534" cy="220326"/>
            </a:xfrm>
            <a:prstGeom prst="arc">
              <a:avLst>
                <a:gd name="adj1" fmla="val 5908684"/>
                <a:gd name="adj2" fmla="val 9931647"/>
              </a:avLst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文字方塊 285">
                  <a:extLst>
                    <a:ext uri="{FF2B5EF4-FFF2-40B4-BE49-F238E27FC236}">
                      <a16:creationId xmlns:a16="http://schemas.microsoft.com/office/drawing/2014/main" id="{15974374-6BEB-D341-70CE-3B5EA08A87CB}"/>
                    </a:ext>
                  </a:extLst>
                </p:cNvPr>
                <p:cNvSpPr txBox="1"/>
                <p:nvPr/>
              </p:nvSpPr>
              <p:spPr>
                <a:xfrm>
                  <a:off x="2499830" y="4121809"/>
                  <a:ext cx="314349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kumimoji="1" lang="en-US" altLang="zh-TW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zh-TW" b="0" i="1" smtClean="0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kumimoji="1" lang="en-US" altLang="zh-TW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TW" altLang="en-US" dirty="0"/>
                </a:p>
              </p:txBody>
            </p:sp>
          </mc:Choice>
          <mc:Fallback xmlns="">
            <p:sp>
              <p:nvSpPr>
                <p:cNvPr id="286" name="文字方塊 285">
                  <a:extLst>
                    <a:ext uri="{FF2B5EF4-FFF2-40B4-BE49-F238E27FC236}">
                      <a16:creationId xmlns:a16="http://schemas.microsoft.com/office/drawing/2014/main" id="{6CC57284-0261-4732-1E00-5024491F6F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99830" y="4121809"/>
                  <a:ext cx="314349" cy="369332"/>
                </a:xfrm>
                <a:prstGeom prst="rect">
                  <a:avLst/>
                </a:prstGeom>
                <a:blipFill>
                  <a:blip r:embed="rId26"/>
                  <a:stretch>
                    <a:fillRect r="-1923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1" name="磁片 286">
              <a:extLst>
                <a:ext uri="{FF2B5EF4-FFF2-40B4-BE49-F238E27FC236}">
                  <a16:creationId xmlns:a16="http://schemas.microsoft.com/office/drawing/2014/main" id="{6DD6C2E1-235F-AAF4-688D-F20CD9B4E500}"/>
                </a:ext>
              </a:extLst>
            </p:cNvPr>
            <p:cNvSpPr/>
            <p:nvPr/>
          </p:nvSpPr>
          <p:spPr>
            <a:xfrm>
              <a:off x="10791861" y="4530716"/>
              <a:ext cx="599831" cy="640253"/>
            </a:xfrm>
            <a:prstGeom prst="flowChartMagneticDisk">
              <a:avLst/>
            </a:prstGeom>
            <a:solidFill>
              <a:srgbClr val="F8F8A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>
                <a:highlight>
                  <a:srgbClr val="FFFF00"/>
                </a:highlight>
              </a:endParaRPr>
            </a:p>
          </p:txBody>
        </p:sp>
        <p:sp>
          <p:nvSpPr>
            <p:cNvPr id="92" name="文字方塊 288">
              <a:extLst>
                <a:ext uri="{FF2B5EF4-FFF2-40B4-BE49-F238E27FC236}">
                  <a16:creationId xmlns:a16="http://schemas.microsoft.com/office/drawing/2014/main" id="{39920B5E-6A62-3FC6-000C-BA4B7A13686A}"/>
                </a:ext>
              </a:extLst>
            </p:cNvPr>
            <p:cNvSpPr txBox="1"/>
            <p:nvPr/>
          </p:nvSpPr>
          <p:spPr>
            <a:xfrm>
              <a:off x="10772267" y="4713393"/>
              <a:ext cx="66761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TW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NCC</a:t>
              </a:r>
              <a:endParaRPr kumimoji="1" lang="zh-TW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93" name="肘形接點 289">
              <a:extLst>
                <a:ext uri="{FF2B5EF4-FFF2-40B4-BE49-F238E27FC236}">
                  <a16:creationId xmlns:a16="http://schemas.microsoft.com/office/drawing/2014/main" id="{6E51229E-B6EA-17F5-76C2-43D386430BCF}"/>
                </a:ext>
              </a:extLst>
            </p:cNvPr>
            <p:cNvCxnSpPr>
              <a:cxnSpLocks/>
            </p:cNvCxnSpPr>
            <p:nvPr/>
          </p:nvCxnSpPr>
          <p:spPr>
            <a:xfrm>
              <a:off x="9638346" y="4491141"/>
              <a:ext cx="1047308" cy="193628"/>
            </a:xfrm>
            <a:prstGeom prst="bentConnector3">
              <a:avLst>
                <a:gd name="adj1" fmla="val 1135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4" name="文字方塊 290">
                  <a:extLst>
                    <a:ext uri="{FF2B5EF4-FFF2-40B4-BE49-F238E27FC236}">
                      <a16:creationId xmlns:a16="http://schemas.microsoft.com/office/drawing/2014/main" id="{361AFE72-7F57-E39D-332C-C87DF7870C15}"/>
                    </a:ext>
                  </a:extLst>
                </p:cNvPr>
                <p:cNvSpPr txBox="1"/>
                <p:nvPr/>
              </p:nvSpPr>
              <p:spPr>
                <a:xfrm>
                  <a:off x="9461543" y="4142591"/>
                  <a:ext cx="317514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kumimoji="1" lang="en-US" altLang="zh-TW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zh-TW" b="0" i="1" smtClean="0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kumimoji="1" lang="en-US" altLang="zh-TW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TW" altLang="en-US" dirty="0"/>
                </a:p>
              </p:txBody>
            </p:sp>
          </mc:Choice>
          <mc:Fallback xmlns="">
            <p:sp>
              <p:nvSpPr>
                <p:cNvPr id="291" name="文字方塊 290">
                  <a:extLst>
                    <a:ext uri="{FF2B5EF4-FFF2-40B4-BE49-F238E27FC236}">
                      <a16:creationId xmlns:a16="http://schemas.microsoft.com/office/drawing/2014/main" id="{AF74E47E-E6A7-DE74-09F2-8BEAE974E5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61543" y="4142591"/>
                  <a:ext cx="317514" cy="369332"/>
                </a:xfrm>
                <a:prstGeom prst="rect">
                  <a:avLst/>
                </a:prstGeom>
                <a:blipFill>
                  <a:blip r:embed="rId28"/>
                  <a:stretch>
                    <a:fillRect r="-1923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5" name="弧線 292">
              <a:extLst>
                <a:ext uri="{FF2B5EF4-FFF2-40B4-BE49-F238E27FC236}">
                  <a16:creationId xmlns:a16="http://schemas.microsoft.com/office/drawing/2014/main" id="{4156BB1D-3CCB-58DD-BEB5-FBD0A52C87EC}"/>
                </a:ext>
              </a:extLst>
            </p:cNvPr>
            <p:cNvSpPr/>
            <p:nvPr/>
          </p:nvSpPr>
          <p:spPr>
            <a:xfrm rot="10986624">
              <a:off x="4471089" y="3200138"/>
              <a:ext cx="180661" cy="192541"/>
            </a:xfrm>
            <a:prstGeom prst="arc">
              <a:avLst>
                <a:gd name="adj1" fmla="val 123958"/>
                <a:gd name="adj2" fmla="val 4870853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96" name="弧線 293">
              <a:extLst>
                <a:ext uri="{FF2B5EF4-FFF2-40B4-BE49-F238E27FC236}">
                  <a16:creationId xmlns:a16="http://schemas.microsoft.com/office/drawing/2014/main" id="{7136944D-BDDA-9A01-D5ED-B7289EE9B823}"/>
                </a:ext>
              </a:extLst>
            </p:cNvPr>
            <p:cNvSpPr/>
            <p:nvPr/>
          </p:nvSpPr>
          <p:spPr>
            <a:xfrm rot="16958528">
              <a:off x="10032645" y="3187974"/>
              <a:ext cx="180661" cy="192541"/>
            </a:xfrm>
            <a:prstGeom prst="arc">
              <a:avLst>
                <a:gd name="adj1" fmla="val 123958"/>
                <a:gd name="adj2" fmla="val 4870853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cxnSp>
          <p:nvCxnSpPr>
            <p:cNvPr id="97" name="肘形接點 295">
              <a:extLst>
                <a:ext uri="{FF2B5EF4-FFF2-40B4-BE49-F238E27FC236}">
                  <a16:creationId xmlns:a16="http://schemas.microsoft.com/office/drawing/2014/main" id="{305AC3A0-E591-7C53-8F92-4581DB19C6BE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6388337" y="709704"/>
              <a:ext cx="575102" cy="8037767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橢圓 297">
              <a:extLst>
                <a:ext uri="{FF2B5EF4-FFF2-40B4-BE49-F238E27FC236}">
                  <a16:creationId xmlns:a16="http://schemas.microsoft.com/office/drawing/2014/main" id="{1096D8C5-F006-9C54-7F90-65B9F91609EF}"/>
                </a:ext>
              </a:extLst>
            </p:cNvPr>
            <p:cNvSpPr/>
            <p:nvPr/>
          </p:nvSpPr>
          <p:spPr>
            <a:xfrm>
              <a:off x="10207028" y="4086301"/>
              <a:ext cx="54280" cy="57875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99" name="橢圓 299">
              <a:extLst>
                <a:ext uri="{FF2B5EF4-FFF2-40B4-BE49-F238E27FC236}">
                  <a16:creationId xmlns:a16="http://schemas.microsoft.com/office/drawing/2014/main" id="{0F8A68F0-9CA9-6C96-32CE-C3BB22971234}"/>
                </a:ext>
              </a:extLst>
            </p:cNvPr>
            <p:cNvSpPr/>
            <p:nvPr/>
          </p:nvSpPr>
          <p:spPr>
            <a:xfrm>
              <a:off x="2504858" y="4828962"/>
              <a:ext cx="54280" cy="57875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00" name="橢圓 303">
              <a:extLst>
                <a:ext uri="{FF2B5EF4-FFF2-40B4-BE49-F238E27FC236}">
                  <a16:creationId xmlns:a16="http://schemas.microsoft.com/office/drawing/2014/main" id="{BB0C71F4-2EBE-D4DB-E808-F825AB027C1A}"/>
                </a:ext>
              </a:extLst>
            </p:cNvPr>
            <p:cNvSpPr/>
            <p:nvPr/>
          </p:nvSpPr>
          <p:spPr>
            <a:xfrm>
              <a:off x="4432666" y="3280705"/>
              <a:ext cx="54280" cy="57875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01" name="橢圓 304">
              <a:extLst>
                <a:ext uri="{FF2B5EF4-FFF2-40B4-BE49-F238E27FC236}">
                  <a16:creationId xmlns:a16="http://schemas.microsoft.com/office/drawing/2014/main" id="{98D91F53-4BF6-13FE-3DF2-547D9FB834E3}"/>
                </a:ext>
              </a:extLst>
            </p:cNvPr>
            <p:cNvSpPr/>
            <p:nvPr/>
          </p:nvSpPr>
          <p:spPr>
            <a:xfrm>
              <a:off x="8295634" y="4815840"/>
              <a:ext cx="54280" cy="57875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2461C1F3-0183-FA3B-260E-D016D292EA75}"/>
              </a:ext>
            </a:extLst>
          </p:cNvPr>
          <p:cNvGrpSpPr/>
          <p:nvPr/>
        </p:nvGrpSpPr>
        <p:grpSpPr>
          <a:xfrm>
            <a:off x="7948946" y="6320465"/>
            <a:ext cx="1186463" cy="1064308"/>
            <a:chOff x="6679612" y="4972182"/>
            <a:chExt cx="2301480" cy="2151560"/>
          </a:xfrm>
        </p:grpSpPr>
        <p:pic>
          <p:nvPicPr>
            <p:cNvPr id="10" name="Graphic 9" descr="Computer with solid fill">
              <a:extLst>
                <a:ext uri="{FF2B5EF4-FFF2-40B4-BE49-F238E27FC236}">
                  <a16:creationId xmlns:a16="http://schemas.microsoft.com/office/drawing/2014/main" id="{3C4EE909-EC1C-8641-3319-606E9FEC702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7878394" y="4972182"/>
              <a:ext cx="1102698" cy="1102698"/>
            </a:xfrm>
            <a:prstGeom prst="rect">
              <a:avLst/>
            </a:prstGeom>
          </p:spPr>
        </p:pic>
        <p:pic>
          <p:nvPicPr>
            <p:cNvPr id="11" name="Graphic 10" descr="Users with solid fill">
              <a:extLst>
                <a:ext uri="{FF2B5EF4-FFF2-40B4-BE49-F238E27FC236}">
                  <a16:creationId xmlns:a16="http://schemas.microsoft.com/office/drawing/2014/main" id="{7EDC8D8B-3F7C-776A-24A4-A1D4D703E67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p:blipFill>
          <p:spPr>
            <a:xfrm>
              <a:off x="6679612" y="4986331"/>
              <a:ext cx="2137411" cy="2137411"/>
            </a:xfrm>
            <a:prstGeom prst="rect">
              <a:avLst/>
            </a:prstGeom>
          </p:spPr>
        </p:pic>
      </p:grpSp>
      <p:sp>
        <p:nvSpPr>
          <p:cNvPr id="155" name="Rectangle: Rounded Corners 154">
            <a:extLst>
              <a:ext uri="{FF2B5EF4-FFF2-40B4-BE49-F238E27FC236}">
                <a16:creationId xmlns:a16="http://schemas.microsoft.com/office/drawing/2014/main" id="{1BE4BF6C-9FC0-C785-7126-478B1F788BC1}"/>
              </a:ext>
            </a:extLst>
          </p:cNvPr>
          <p:cNvSpPr/>
          <p:nvPr/>
        </p:nvSpPr>
        <p:spPr>
          <a:xfrm>
            <a:off x="1143000" y="7962900"/>
            <a:ext cx="15863715" cy="2178089"/>
          </a:xfrm>
          <a:prstGeom prst="roundRect">
            <a:avLst/>
          </a:prstGeom>
          <a:solidFill>
            <a:srgbClr val="EEEE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B04ABEE8-6B90-D3C0-6629-20A0B947DF6B}"/>
                  </a:ext>
                </a:extLst>
              </p:cNvPr>
              <p:cNvSpPr txBox="1"/>
              <p:nvPr/>
            </p:nvSpPr>
            <p:spPr>
              <a:xfrm>
                <a:off x="1281285" y="8480571"/>
                <a:ext cx="5837683" cy="13849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" altLang="zh-TW" sz="2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i: the index of satellite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altLang="zh-TW" sz="28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𝑀</m:t>
                    </m:r>
                  </m:oMath>
                </a14:m>
                <a:r>
                  <a:rPr lang="en-US" altLang="zh-TW" sz="2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Number of beams per satellite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kumimoji="1" lang="el-GR" altLang="zh-TW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Φ</m:t>
                    </m:r>
                    <m:r>
                      <a:rPr kumimoji="1" lang="en-US" altLang="zh-TW" sz="2800" i="1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altLang="zh-TW" sz="2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Number of frequency colors</a:t>
                </a:r>
                <a:endParaRPr lang="en" altLang="zh-TW" sz="2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B04ABEE8-6B90-D3C0-6629-20A0B947DF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1285" y="8480571"/>
                <a:ext cx="5837683" cy="1384995"/>
              </a:xfrm>
              <a:prstGeom prst="rect">
                <a:avLst/>
              </a:prstGeom>
              <a:blipFill>
                <a:blip r:embed="rId31"/>
                <a:stretch>
                  <a:fillRect l="-1879" t="-4405" b="-114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8" name="TextBox 157">
                <a:extLst>
                  <a:ext uri="{FF2B5EF4-FFF2-40B4-BE49-F238E27FC236}">
                    <a16:creationId xmlns:a16="http://schemas.microsoft.com/office/drawing/2014/main" id="{8B40D4C7-50ED-5F84-04D3-BAC82E982E95}"/>
                  </a:ext>
                </a:extLst>
              </p:cNvPr>
              <p:cNvSpPr txBox="1"/>
              <p:nvPr/>
            </p:nvSpPr>
            <p:spPr>
              <a:xfrm>
                <a:off x="6932264" y="8479049"/>
                <a:ext cx="8688735" cy="145924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TW" sz="2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TW" sz="280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kumimoji="1" lang="en-US" altLang="zh-TW" sz="280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kumimoji="1" lang="en-US" altLang="zh-TW" sz="28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zh-TW" sz="280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altLang="zh-TW" sz="2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User k traffic demand at frame 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kumimoji="1" lang="en-US" altLang="zh-TW" sz="28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kumimoji="1" lang="en-US" altLang="zh-TW" sz="2800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kumimoji="1" lang="en-US" altLang="zh-TW" sz="28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kumimoji="1" lang="en-US" altLang="zh-TW" sz="28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m:rPr>
                            <m:sty m:val="p"/>
                          </m:rPr>
                          <a:rPr kumimoji="1" lang="en-US" altLang="zh-TW" sz="2800" b="0" i="1" smtClean="0">
                            <a:latin typeface="Cambria Math" panose="02040503050406030204" pitchFamily="18" charset="0"/>
                          </a:rPr>
                          <m:t>ervied</m:t>
                        </m:r>
                      </m:sup>
                    </m:sSubSup>
                    <m:d>
                      <m:dPr>
                        <m:begChr m:val="["/>
                        <m:endChr m:val="]"/>
                        <m:ctrlPr>
                          <a:rPr kumimoji="1" lang="en-US" altLang="zh-TW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zh-TW" sz="28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altLang="zh-TW" sz="2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:User k be </a:t>
                </a:r>
                <a:r>
                  <a:rPr lang="en-US" altLang="zh-TW" sz="28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servied</a:t>
                </a:r>
                <a:r>
                  <a:rPr lang="en-US" altLang="zh-TW" sz="2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traffic at frame 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TW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TW" sz="280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kumimoji="1" lang="en-US" altLang="zh-TW" sz="28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altLang="zh-TW" sz="2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:Cell j</a:t>
                </a:r>
              </a:p>
            </p:txBody>
          </p:sp>
        </mc:Choice>
        <mc:Fallback>
          <p:sp>
            <p:nvSpPr>
              <p:cNvPr id="158" name="TextBox 157">
                <a:extLst>
                  <a:ext uri="{FF2B5EF4-FFF2-40B4-BE49-F238E27FC236}">
                    <a16:creationId xmlns:a16="http://schemas.microsoft.com/office/drawing/2014/main" id="{8B40D4C7-50ED-5F84-04D3-BAC82E982E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2264" y="8479049"/>
                <a:ext cx="8688735" cy="1459246"/>
              </a:xfrm>
              <a:prstGeom prst="rect">
                <a:avLst/>
              </a:prstGeom>
              <a:blipFill>
                <a:blip r:embed="rId32"/>
                <a:stretch>
                  <a:fillRect t="-4603" b="-83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012D8-201F-7A8A-E178-30644F0ACC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0C0317DA-CA06-CCBC-683A-F2BBE206AA90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preencoded.png">
              <a:extLst>
                <a:ext uri="{FF2B5EF4-FFF2-40B4-BE49-F238E27FC236}">
                  <a16:creationId xmlns:a16="http://schemas.microsoft.com/office/drawing/2014/main" id="{8DD1B348-4F3A-7903-8323-A0CCEC1B7DE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4" name="TextBox 4">
            <a:extLst>
              <a:ext uri="{FF2B5EF4-FFF2-40B4-BE49-F238E27FC236}">
                <a16:creationId xmlns:a16="http://schemas.microsoft.com/office/drawing/2014/main" id="{5F11615F-BFC5-4FFA-2D6B-3C0888BF4D51}"/>
              </a:ext>
            </a:extLst>
          </p:cNvPr>
          <p:cNvSpPr txBox="1"/>
          <p:nvPr/>
        </p:nvSpPr>
        <p:spPr>
          <a:xfrm>
            <a:off x="1714500" y="1152525"/>
            <a:ext cx="14859000" cy="12039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 b="1" spc="3" dirty="0">
                <a:solidFill>
                  <a:srgbClr val="92A5BC"/>
                </a:solidFill>
                <a:latin typeface="Montserrat Bold"/>
                <a:sym typeface="Open Sans"/>
              </a:rPr>
              <a:t>System Architecture-I/O</a:t>
            </a:r>
          </a:p>
          <a:p>
            <a:pPr algn="ctr">
              <a:lnSpc>
                <a:spcPts val="4799"/>
              </a:lnSpc>
            </a:pPr>
            <a:endParaRPr lang="en-US" sz="3999" b="1" spc="3" dirty="0">
              <a:solidFill>
                <a:srgbClr val="92A5BC"/>
              </a:solidFill>
              <a:latin typeface="Montserrat Bold"/>
              <a:ea typeface="Montserrat Bold"/>
              <a:cs typeface="Montserrat Bold"/>
              <a:sym typeface="Montserrat Bold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3EBF409-4DBE-F532-B785-ADF13859D3DC}"/>
              </a:ext>
            </a:extLst>
          </p:cNvPr>
          <p:cNvSpPr/>
          <p:nvPr/>
        </p:nvSpPr>
        <p:spPr>
          <a:xfrm>
            <a:off x="9190061" y="2422534"/>
            <a:ext cx="4937077" cy="2840139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8C08D4-DD44-3F9A-9BB7-AF3D8FE19006}"/>
              </a:ext>
            </a:extLst>
          </p:cNvPr>
          <p:cNvSpPr txBox="1"/>
          <p:nvPr/>
        </p:nvSpPr>
        <p:spPr>
          <a:xfrm>
            <a:off x="1352764" y="3179789"/>
            <a:ext cx="312420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Topology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3200" dirty="0"/>
              <a:t>User position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3200" dirty="0"/>
              <a:t>UT position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3200" dirty="0"/>
              <a:t>GW position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3200" dirty="0"/>
              <a:t>TLE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2F91C81-3484-6BAB-E695-71F1B5156E16}"/>
              </a:ext>
            </a:extLst>
          </p:cNvPr>
          <p:cNvSpPr txBox="1"/>
          <p:nvPr/>
        </p:nvSpPr>
        <p:spPr>
          <a:xfrm>
            <a:off x="10066859" y="2958728"/>
            <a:ext cx="31834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/>
              <a:t>Traffic model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358E21B-06C6-DDE4-59B7-25DFD001D944}"/>
              </a:ext>
            </a:extLst>
          </p:cNvPr>
          <p:cNvSpPr txBox="1"/>
          <p:nvPr/>
        </p:nvSpPr>
        <p:spPr>
          <a:xfrm>
            <a:off x="13487400" y="5752063"/>
            <a:ext cx="355126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/>
              <a:t>Cell</a:t>
            </a:r>
            <a:r>
              <a:rPr lang="en-US" sz="4000" b="1" dirty="0"/>
              <a:t> </a:t>
            </a:r>
            <a:r>
              <a:rPr lang="en-US" sz="3200" dirty="0"/>
              <a:t>demand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8F88319C-2B5D-8D52-A99E-B066FE7C459D}"/>
              </a:ext>
            </a:extLst>
          </p:cNvPr>
          <p:cNvSpPr/>
          <p:nvPr/>
        </p:nvSpPr>
        <p:spPr>
          <a:xfrm>
            <a:off x="8965820" y="6949339"/>
            <a:ext cx="5446062" cy="3048994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2F326BB-824F-6778-9DDA-78F41E94CB85}"/>
              </a:ext>
            </a:extLst>
          </p:cNvPr>
          <p:cNvCxnSpPr>
            <a:cxnSpLocks/>
          </p:cNvCxnSpPr>
          <p:nvPr/>
        </p:nvCxnSpPr>
        <p:spPr>
          <a:xfrm>
            <a:off x="5234178" y="4381500"/>
            <a:ext cx="3124200" cy="0"/>
          </a:xfrm>
          <a:prstGeom prst="straightConnector1">
            <a:avLst/>
          </a:prstGeom>
          <a:ln w="76200">
            <a:solidFill>
              <a:srgbClr val="10101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EBDBACB-CFA2-FD2F-A7AD-2F2806CD35E6}"/>
              </a:ext>
            </a:extLst>
          </p:cNvPr>
          <p:cNvCxnSpPr>
            <a:cxnSpLocks/>
          </p:cNvCxnSpPr>
          <p:nvPr/>
        </p:nvCxnSpPr>
        <p:spPr>
          <a:xfrm>
            <a:off x="11811000" y="5753100"/>
            <a:ext cx="0" cy="1107743"/>
          </a:xfrm>
          <a:prstGeom prst="straightConnector1">
            <a:avLst/>
          </a:prstGeom>
          <a:ln w="76200">
            <a:solidFill>
              <a:srgbClr val="10101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BA0EBBC3-A519-8659-4D9F-7D5A43C55DF7}"/>
              </a:ext>
            </a:extLst>
          </p:cNvPr>
          <p:cNvSpPr txBox="1"/>
          <p:nvPr/>
        </p:nvSpPr>
        <p:spPr>
          <a:xfrm>
            <a:off x="10186007" y="7423338"/>
            <a:ext cx="31834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/>
              <a:t>Allocate model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D266462-B22A-98E0-8FCD-1CEB6EB0DD5C}"/>
              </a:ext>
            </a:extLst>
          </p:cNvPr>
          <p:cNvSpPr txBox="1"/>
          <p:nvPr/>
        </p:nvSpPr>
        <p:spPr>
          <a:xfrm>
            <a:off x="1680641" y="7758954"/>
            <a:ext cx="355353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/>
              <a:t>DSR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/>
              <a:t>Satisfied Ratio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BD0B911-806C-AE04-D3C9-832ED59AA06A}"/>
              </a:ext>
            </a:extLst>
          </p:cNvPr>
          <p:cNvSpPr txBox="1"/>
          <p:nvPr/>
        </p:nvSpPr>
        <p:spPr>
          <a:xfrm>
            <a:off x="9190061" y="3864520"/>
            <a:ext cx="493707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3200" dirty="0"/>
              <a:t>Generate users demand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3200" dirty="0"/>
              <a:t>Aggregate users demand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DE9330E-665B-4199-73CC-4FB270714B0C}"/>
              </a:ext>
            </a:extLst>
          </p:cNvPr>
          <p:cNvSpPr txBox="1"/>
          <p:nvPr/>
        </p:nvSpPr>
        <p:spPr>
          <a:xfrm>
            <a:off x="9622663" y="8430688"/>
            <a:ext cx="493707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3200" dirty="0"/>
              <a:t>Beam-Cell Mapping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3200" dirty="0"/>
              <a:t>Allocate the resource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F83C5EC0-CF99-CC87-5491-AA41B5A56E70}"/>
              </a:ext>
            </a:extLst>
          </p:cNvPr>
          <p:cNvCxnSpPr>
            <a:cxnSpLocks/>
          </p:cNvCxnSpPr>
          <p:nvPr/>
        </p:nvCxnSpPr>
        <p:spPr>
          <a:xfrm flipH="1">
            <a:off x="5638800" y="8435028"/>
            <a:ext cx="2362200" cy="0"/>
          </a:xfrm>
          <a:prstGeom prst="straightConnector1">
            <a:avLst/>
          </a:prstGeom>
          <a:ln w="76200">
            <a:solidFill>
              <a:srgbClr val="10101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9D7AC056-4110-A73C-C625-168E97D2E6AB}"/>
              </a:ext>
            </a:extLst>
          </p:cNvPr>
          <p:cNvSpPr txBox="1"/>
          <p:nvPr/>
        </p:nvSpPr>
        <p:spPr>
          <a:xfrm>
            <a:off x="1352764" y="2378465"/>
            <a:ext cx="25146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/>
              <a:t>Input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E889CAC-3846-9FB7-5445-7234C8FAD35D}"/>
              </a:ext>
            </a:extLst>
          </p:cNvPr>
          <p:cNvSpPr txBox="1"/>
          <p:nvPr/>
        </p:nvSpPr>
        <p:spPr>
          <a:xfrm>
            <a:off x="1528241" y="6916296"/>
            <a:ext cx="25146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/>
              <a:t>Output</a:t>
            </a:r>
          </a:p>
        </p:txBody>
      </p:sp>
    </p:spTree>
    <p:extLst>
      <p:ext uri="{BB962C8B-B14F-4D97-AF65-F5344CB8AC3E}">
        <p14:creationId xmlns:p14="http://schemas.microsoft.com/office/powerpoint/2010/main" val="31582247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EEA9E5-B763-9234-2D4E-A0746D2FA3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4D6C2B0A-12FE-4ABD-85B0-276CBB588969}"/>
              </a:ext>
            </a:extLst>
          </p:cNvPr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preencoded.png">
              <a:extLst>
                <a:ext uri="{FF2B5EF4-FFF2-40B4-BE49-F238E27FC236}">
                  <a16:creationId xmlns:a16="http://schemas.microsoft.com/office/drawing/2014/main" id="{91C77327-5F39-43E8-E26F-3339FECF6034}"/>
                </a:ext>
              </a:extLst>
            </p:cNvPr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TextBox 4">
            <a:extLst>
              <a:ext uri="{FF2B5EF4-FFF2-40B4-BE49-F238E27FC236}">
                <a16:creationId xmlns:a16="http://schemas.microsoft.com/office/drawing/2014/main" id="{949DBDE0-738D-CECA-7454-D7C9EEAF3DC9}"/>
              </a:ext>
            </a:extLst>
          </p:cNvPr>
          <p:cNvSpPr txBox="1"/>
          <p:nvPr/>
        </p:nvSpPr>
        <p:spPr>
          <a:xfrm>
            <a:off x="1143000" y="4524375"/>
            <a:ext cx="6172200" cy="41073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1775"/>
              </a:lnSpc>
            </a:pPr>
            <a:r>
              <a:rPr lang="en-US" sz="33099" b="1" dirty="0">
                <a:solidFill>
                  <a:srgbClr val="F0F0F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04</a:t>
            </a:r>
          </a:p>
        </p:txBody>
      </p:sp>
      <p:grpSp>
        <p:nvGrpSpPr>
          <p:cNvPr id="5" name="Group 5">
            <a:extLst>
              <a:ext uri="{FF2B5EF4-FFF2-40B4-BE49-F238E27FC236}">
                <a16:creationId xmlns:a16="http://schemas.microsoft.com/office/drawing/2014/main" id="{B59A4EEF-B30D-5464-AC31-B9393E27D4D6}"/>
              </a:ext>
            </a:extLst>
          </p:cNvPr>
          <p:cNvGrpSpPr/>
          <p:nvPr/>
        </p:nvGrpSpPr>
        <p:grpSpPr>
          <a:xfrm>
            <a:off x="5000625" y="3998709"/>
            <a:ext cx="85725" cy="2289620"/>
            <a:chOff x="0" y="0"/>
            <a:chExt cx="114300" cy="3052826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785460AB-697F-C38D-9E38-BECADE3939CA}"/>
                </a:ext>
              </a:extLst>
            </p:cNvPr>
            <p:cNvSpPr/>
            <p:nvPr/>
          </p:nvSpPr>
          <p:spPr>
            <a:xfrm>
              <a:off x="0" y="0"/>
              <a:ext cx="114300" cy="3052826"/>
            </a:xfrm>
            <a:custGeom>
              <a:avLst/>
              <a:gdLst/>
              <a:ahLst/>
              <a:cxnLst/>
              <a:rect l="l" t="t" r="r" b="b"/>
              <a:pathLst>
                <a:path w="114300" h="3052826">
                  <a:moveTo>
                    <a:pt x="0" y="0"/>
                  </a:moveTo>
                  <a:lnTo>
                    <a:pt x="114300" y="0"/>
                  </a:lnTo>
                  <a:lnTo>
                    <a:pt x="114300" y="3052826"/>
                  </a:lnTo>
                  <a:lnTo>
                    <a:pt x="0" y="3052826"/>
                  </a:lnTo>
                  <a:close/>
                </a:path>
              </a:pathLst>
            </a:custGeom>
            <a:solidFill>
              <a:srgbClr val="CCDEE0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7" name="TextBox 7">
            <a:extLst>
              <a:ext uri="{FF2B5EF4-FFF2-40B4-BE49-F238E27FC236}">
                <a16:creationId xmlns:a16="http://schemas.microsoft.com/office/drawing/2014/main" id="{E349A3B6-F1B2-157D-EB98-D0F1A85DB626}"/>
              </a:ext>
            </a:extLst>
          </p:cNvPr>
          <p:cNvSpPr txBox="1"/>
          <p:nvPr/>
        </p:nvSpPr>
        <p:spPr>
          <a:xfrm>
            <a:off x="5572125" y="3998709"/>
            <a:ext cx="10904934" cy="17440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6838"/>
              </a:lnSpc>
            </a:pPr>
            <a:r>
              <a:rPr lang="en-US" sz="5700" b="1" spc="3" dirty="0">
                <a:solidFill>
                  <a:srgbClr val="92A5BC"/>
                </a:solidFill>
                <a:latin typeface="Montserrat Bold"/>
              </a:rPr>
              <a:t>Expected Deliverables</a:t>
            </a:r>
            <a:endParaRPr lang="en-US" sz="5700" b="1" spc="3" dirty="0">
              <a:solidFill>
                <a:srgbClr val="92A5BC"/>
              </a:solidFill>
              <a:latin typeface="Montserrat Bold"/>
              <a:sym typeface="Open Sans"/>
            </a:endParaRPr>
          </a:p>
          <a:p>
            <a:pPr algn="l">
              <a:lnSpc>
                <a:spcPts val="6838"/>
              </a:lnSpc>
            </a:pPr>
            <a:endParaRPr lang="en-US" sz="5700" b="1" spc="3" dirty="0">
              <a:solidFill>
                <a:srgbClr val="92A5BC"/>
              </a:solidFill>
              <a:latin typeface="Montserrat Bold"/>
              <a:ea typeface="Montserrat Bold"/>
              <a:cs typeface="Montserrat Bold"/>
              <a:sym typeface="Montserrat Bold"/>
            </a:endParaRPr>
          </a:p>
        </p:txBody>
      </p:sp>
    </p:spTree>
    <p:extLst>
      <p:ext uri="{BB962C8B-B14F-4D97-AF65-F5344CB8AC3E}">
        <p14:creationId xmlns:p14="http://schemas.microsoft.com/office/powerpoint/2010/main" val="38474342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161167-B72B-8887-94B4-7847B08805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>
            <a:extLst>
              <a:ext uri="{FF2B5EF4-FFF2-40B4-BE49-F238E27FC236}">
                <a16:creationId xmlns:a16="http://schemas.microsoft.com/office/drawing/2014/main" id="{FFA94741-6CB2-E351-9ADA-42E44AB00E4D}"/>
              </a:ext>
            </a:extLst>
          </p:cNvPr>
          <p:cNvSpPr txBox="1"/>
          <p:nvPr/>
        </p:nvSpPr>
        <p:spPr>
          <a:xfrm>
            <a:off x="1714500" y="1152525"/>
            <a:ext cx="14859000" cy="18194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4000" b="1" spc="3" dirty="0">
                <a:solidFill>
                  <a:srgbClr val="92A5BC"/>
                </a:solidFill>
                <a:latin typeface="Montserrat Bold"/>
              </a:rPr>
              <a:t>Expected Deliverables</a:t>
            </a:r>
            <a:endParaRPr lang="en-US" sz="4000" b="1" spc="3" dirty="0">
              <a:solidFill>
                <a:srgbClr val="92A5BC"/>
              </a:solidFill>
              <a:latin typeface="Montserrat Bold"/>
              <a:sym typeface="Open Sans"/>
            </a:endParaRPr>
          </a:p>
          <a:p>
            <a:pPr algn="ctr">
              <a:lnSpc>
                <a:spcPts val="4799"/>
              </a:lnSpc>
            </a:pPr>
            <a:endParaRPr lang="en-US" sz="3999" b="1" spc="3" dirty="0">
              <a:solidFill>
                <a:srgbClr val="92A5BC"/>
              </a:solidFill>
              <a:latin typeface="Montserrat Bold"/>
              <a:sym typeface="Open Sans"/>
            </a:endParaRPr>
          </a:p>
          <a:p>
            <a:pPr algn="ctr">
              <a:lnSpc>
                <a:spcPts val="4799"/>
              </a:lnSpc>
            </a:pPr>
            <a:endParaRPr lang="en-US" sz="3999" b="1" spc="3" dirty="0">
              <a:solidFill>
                <a:srgbClr val="92A5BC"/>
              </a:solidFill>
              <a:latin typeface="Montserrat Bold"/>
              <a:ea typeface="Montserrat Bold"/>
              <a:cs typeface="Montserrat Bold"/>
              <a:sym typeface="Montserrat Bold"/>
            </a:endParaRPr>
          </a:p>
        </p:txBody>
      </p:sp>
      <p:sp>
        <p:nvSpPr>
          <p:cNvPr id="6" name="TextBox 7">
            <a:extLst>
              <a:ext uri="{FF2B5EF4-FFF2-40B4-BE49-F238E27FC236}">
                <a16:creationId xmlns:a16="http://schemas.microsoft.com/office/drawing/2014/main" id="{0654793E-21A2-9B77-3DDE-ADD6268093D2}"/>
              </a:ext>
            </a:extLst>
          </p:cNvPr>
          <p:cNvSpPr txBox="1"/>
          <p:nvPr/>
        </p:nvSpPr>
        <p:spPr>
          <a:xfrm>
            <a:off x="3200400" y="3117656"/>
            <a:ext cx="714375" cy="4873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600" b="1" dirty="0">
                <a:solidFill>
                  <a:srgbClr val="9D9AB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01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E6045B55-C689-FC2F-6A30-D9C423AEE4A8}"/>
              </a:ext>
            </a:extLst>
          </p:cNvPr>
          <p:cNvSpPr txBox="1"/>
          <p:nvPr/>
        </p:nvSpPr>
        <p:spPr>
          <a:xfrm>
            <a:off x="4343400" y="3015994"/>
            <a:ext cx="12230100" cy="110799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sz="3600" b="1" dirty="0"/>
              <a:t>Scenario Establishment</a:t>
            </a:r>
          </a:p>
          <a:p>
            <a:r>
              <a:rPr lang="en-US" sz="3600" dirty="0">
                <a:solidFill>
                  <a:srgbClr val="3D3D3D"/>
                </a:solidFill>
                <a:latin typeface="Open Sans"/>
                <a:ea typeface="Open Sans"/>
                <a:cs typeface="Open Sans"/>
                <a:sym typeface="Open Sans"/>
              </a:rPr>
              <a:t>- </a:t>
            </a:r>
            <a:r>
              <a:rPr lang="en-US" sz="3600" dirty="0"/>
              <a:t>Reference Scenario Establishment and Functional Validation</a:t>
            </a:r>
            <a:endParaRPr lang="en-US" sz="3600" dirty="0">
              <a:solidFill>
                <a:srgbClr val="3D3D3D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0" name="TextBox 7">
            <a:extLst>
              <a:ext uri="{FF2B5EF4-FFF2-40B4-BE49-F238E27FC236}">
                <a16:creationId xmlns:a16="http://schemas.microsoft.com/office/drawing/2014/main" id="{8D17AA6E-0D31-40C5-9E66-321ADD760879}"/>
              </a:ext>
            </a:extLst>
          </p:cNvPr>
          <p:cNvSpPr txBox="1"/>
          <p:nvPr/>
        </p:nvSpPr>
        <p:spPr>
          <a:xfrm>
            <a:off x="3200399" y="4735099"/>
            <a:ext cx="714375" cy="4873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600" b="1" dirty="0">
                <a:solidFill>
                  <a:srgbClr val="9D9AB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02</a:t>
            </a:r>
          </a:p>
        </p:txBody>
      </p:sp>
      <p:sp>
        <p:nvSpPr>
          <p:cNvPr id="12" name="TextBox 8">
            <a:extLst>
              <a:ext uri="{FF2B5EF4-FFF2-40B4-BE49-F238E27FC236}">
                <a16:creationId xmlns:a16="http://schemas.microsoft.com/office/drawing/2014/main" id="{0E1B3D32-D05B-3794-FD12-11F3C4EC4DD4}"/>
              </a:ext>
            </a:extLst>
          </p:cNvPr>
          <p:cNvSpPr txBox="1"/>
          <p:nvPr/>
        </p:nvSpPr>
        <p:spPr>
          <a:xfrm>
            <a:off x="4343399" y="4668414"/>
            <a:ext cx="8772525" cy="11079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3600" b="1" dirty="0"/>
              <a:t>Functional Validation</a:t>
            </a:r>
          </a:p>
          <a:p>
            <a:r>
              <a:rPr lang="en-US" sz="3600" dirty="0">
                <a:solidFill>
                  <a:srgbClr val="3D3D3D"/>
                </a:solidFill>
                <a:latin typeface="Open Sans"/>
                <a:ea typeface="Open Sans"/>
                <a:cs typeface="Open Sans"/>
                <a:sym typeface="Open Sans"/>
              </a:rPr>
              <a:t>- </a:t>
            </a:r>
            <a:r>
              <a:rPr lang="en-US" sz="3600" dirty="0"/>
              <a:t>Traffic Load Variation</a:t>
            </a:r>
            <a:endParaRPr lang="en-US" sz="3600" dirty="0">
              <a:solidFill>
                <a:srgbClr val="3D3D3D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6" name="TextBox 7">
            <a:extLst>
              <a:ext uri="{FF2B5EF4-FFF2-40B4-BE49-F238E27FC236}">
                <a16:creationId xmlns:a16="http://schemas.microsoft.com/office/drawing/2014/main" id="{8238174B-CEB2-EF11-14EF-7B3A6B4F8D21}"/>
              </a:ext>
            </a:extLst>
          </p:cNvPr>
          <p:cNvSpPr txBox="1"/>
          <p:nvPr/>
        </p:nvSpPr>
        <p:spPr>
          <a:xfrm>
            <a:off x="3200399" y="6537283"/>
            <a:ext cx="714375" cy="4873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600" b="1" dirty="0">
                <a:solidFill>
                  <a:srgbClr val="9D9AB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03</a:t>
            </a:r>
          </a:p>
        </p:txBody>
      </p:sp>
      <p:sp>
        <p:nvSpPr>
          <p:cNvPr id="18" name="TextBox 8">
            <a:extLst>
              <a:ext uri="{FF2B5EF4-FFF2-40B4-BE49-F238E27FC236}">
                <a16:creationId xmlns:a16="http://schemas.microsoft.com/office/drawing/2014/main" id="{58BF4DF0-A67B-221C-E6B0-2588B3938C7D}"/>
              </a:ext>
            </a:extLst>
          </p:cNvPr>
          <p:cNvSpPr txBox="1"/>
          <p:nvPr/>
        </p:nvSpPr>
        <p:spPr>
          <a:xfrm>
            <a:off x="4343399" y="6431516"/>
            <a:ext cx="8772525" cy="16619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3600" b="1" dirty="0"/>
              <a:t>Model Validation / External Comparison</a:t>
            </a:r>
          </a:p>
          <a:p>
            <a:r>
              <a:rPr lang="en-US" sz="3600" dirty="0"/>
              <a:t>- Spatial Traffic Distribution</a:t>
            </a:r>
          </a:p>
          <a:p>
            <a:endParaRPr lang="en-US" sz="3600" dirty="0">
              <a:solidFill>
                <a:srgbClr val="3D3D3D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151053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517</TotalTime>
  <Words>426</Words>
  <Application>Microsoft Office PowerPoint</Application>
  <PresentationFormat>Custom</PresentationFormat>
  <Paragraphs>187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1" baseType="lpstr">
      <vt:lpstr>Arial</vt:lpstr>
      <vt:lpstr>Times New Roman</vt:lpstr>
      <vt:lpstr>Open Sans</vt:lpstr>
      <vt:lpstr>Calibri</vt:lpstr>
      <vt:lpstr>Montserrat Bold</vt:lpstr>
      <vt:lpstr>Wingdings</vt:lpstr>
      <vt:lpstr>Cambria Math</vt:lpstr>
      <vt:lpstr>Open Sans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Personal_Presentation_Template_Unified_ULTRA_FINAL.pptx</dc:title>
  <dc:creator>wenj</dc:creator>
  <cp:lastModifiedBy>M11502215</cp:lastModifiedBy>
  <cp:revision>4</cp:revision>
  <dcterms:created xsi:type="dcterms:W3CDTF">2006-08-16T00:00:00Z</dcterms:created>
  <dcterms:modified xsi:type="dcterms:W3CDTF">2026-09-18T04:11:03Z</dcterms:modified>
  <dc:identifier>DAHOhXedOPU</dc:identifier>
</cp:coreProperties>
</file>