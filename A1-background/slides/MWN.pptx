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15"/>
  </p:notesMasterIdLst>
  <p:sldIdLst>
    <p:sldId id="256" r:id="rId2"/>
    <p:sldId id="257" r:id="rId3"/>
    <p:sldId id="258" r:id="rId4"/>
    <p:sldId id="259" r:id="rId5"/>
    <p:sldId id="261" r:id="rId6"/>
    <p:sldId id="260" r:id="rId7"/>
    <p:sldId id="283" r:id="rId8"/>
    <p:sldId id="264" r:id="rId9"/>
    <p:sldId id="262" r:id="rId10"/>
    <p:sldId id="279" r:id="rId11"/>
    <p:sldId id="281" r:id="rId12"/>
    <p:sldId id="280" r:id="rId13"/>
    <p:sldId id="282" r:id="rId14"/>
  </p:sldIdLst>
  <p:sldSz cx="18288000" cy="10287000"/>
  <p:notesSz cx="6858000" cy="9144000"/>
  <p:embeddedFontLst>
    <p:embeddedFont>
      <p:font typeface="Cambria Math" panose="02040503050406030204" pitchFamily="18" charset="0"/>
      <p:regular r:id="rId16"/>
    </p:embeddedFont>
    <p:embeddedFont>
      <p:font typeface="Montserrat Bold" panose="02020500000000000000" charset="0"/>
      <p:regular r:id="rId17"/>
    </p:embeddedFont>
    <p:embeddedFont>
      <p:font typeface="Open Sans" panose="020B0606030504020204" pitchFamily="34" charset="0"/>
      <p:regular r:id="rId18"/>
      <p:bold r:id="rId19"/>
      <p:italic r:id="rId20"/>
      <p:boldItalic r:id="rId21"/>
    </p:embeddedFont>
    <p:embeddedFont>
      <p:font typeface="Open Sans Bold" panose="020B0806030504020204" charset="0"/>
      <p:regular r:id="rId22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6D9F1"/>
    <a:srgbClr val="EBE9F5"/>
    <a:srgbClr val="E2E1E7"/>
    <a:srgbClr val="9D9AB1"/>
    <a:srgbClr val="EEEEF0"/>
    <a:srgbClr val="101010"/>
    <a:srgbClr val="DCE6F2"/>
    <a:srgbClr val="CABCCB"/>
    <a:srgbClr val="9FB5C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E8034E78-7F5D-4C2E-B375-FC64B27BC917}" styleName="Dark Style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dk1">
              <a:tint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dk1">
              <a:tint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dk1">
              <a:tint val="6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152" autoAdjust="0"/>
    <p:restoredTop sz="94622" autoAdjust="0"/>
  </p:normalViewPr>
  <p:slideViewPr>
    <p:cSldViewPr>
      <p:cViewPr varScale="1">
        <p:scale>
          <a:sx n="70" d="100"/>
          <a:sy n="70" d="100"/>
        </p:scale>
        <p:origin x="804" y="84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font" Target="fonts/font3.fntdata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font" Target="fonts/font6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font" Target="fonts/font2.fntdata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font" Target="fonts/font1.fntdata"/><Relationship Id="rId20" Type="http://schemas.openxmlformats.org/officeDocument/2006/relationships/font" Target="fonts/font5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font" Target="fonts/font4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7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19.09.2026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1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2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3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4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5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 dirty="0"/>
              <a:t>1.7.2013</a:t>
            </a:r>
          </a:p>
          <a:p>
            <a:endParaRPr lang="en-US" dirty="0"/>
          </a:p>
          <a:p>
            <a:r>
              <a:rPr lang="en-US" dirty="0"/>
              <a:t>7</a:t>
            </a:r>
          </a:p>
          <a:p>
            <a:endParaRPr lang="en-US" dirty="0"/>
          </a:p>
          <a:p>
            <a:r>
              <a:rPr lang="en-US" dirty="0"/>
              <a:t>‹#›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4DAEF2-2188-FDA7-3340-67329342C5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492EC71E-25E1-DEC1-5C49-21DEAD654BC1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81DE1F1-7A5A-8126-B4EE-5DF59D29978C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36BFB648-5468-0BB6-AF33-A3DEBBE94A67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2A7754F5-C462-6390-AE47-31452BA5C2F4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FA9853A-031C-965C-53AA-D5516253A0B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1E7F73-9165-0F6E-7A09-8556A70EC8B8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84492652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392CF3-E451-5819-6C5F-E2E69EA6E96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7E4D46C-7720-ACEA-24B4-0865CED016E3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061B695-4BCD-6845-E571-B7CB035811BD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E40619D1-574E-6248-F181-4E9B4D764B5F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0891DBB-1001-764A-A473-95C2CBAAAE3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9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922F737-068A-417C-146A-2F7ADF05F2AF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A93911-9319-096B-A4F9-ED439EF38B8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355015650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74E77C-E847-79DE-E7F1-6E9B733451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4EBDDD3-6057-A06C-9671-FFD4CD794896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672C2CB-6439-1EA4-7C9E-3F9146222023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40DF5801-DB24-28F2-5993-293636A2758D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E21E0FFA-B941-9257-722F-8735AE1E15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7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EDEE553-5FC9-7C82-6A99-260215DB9E47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4D64A16-D4EF-0CD3-BCA5-A59F5D43DD0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11006588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6E3E35-69A4-F7E1-C92F-49F639A49A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D70584D2-5ACA-F2AD-8C2A-68A6F891CD2E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E3DE28D-CC3F-4DF5-3AE7-41FD6DA8E997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/>
              <a:t>1.7.2013</a:t>
            </a:r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0D790FF2-1885-5FD5-AEA6-C3CB3EDCD1D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512763"/>
            <a:ext cx="4562475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7CB5A577-5F36-203F-4F86-99561F36B10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1.7.2013</a:t>
            </a:r>
          </a:p>
          <a:p>
            <a:endParaRPr lang="en-US"/>
          </a:p>
          <a:p>
            <a:r>
              <a:rPr lang="en-US"/>
              <a:t>6</a:t>
            </a:r>
          </a:p>
          <a:p>
            <a:endParaRPr lang="en-US"/>
          </a:p>
          <a:p>
            <a:r>
              <a:rPr lang="en-US"/>
              <a:t>‹#›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C278B28-1C28-F796-A10B-3866BE5A7713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996DD61-E36C-AC8F-C691-E1D5B178792D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/>
              <a:t>‹#›</a:t>
            </a:r>
          </a:p>
        </p:txBody>
      </p:sp>
    </p:spTree>
    <p:extLst>
      <p:ext uri="{BB962C8B-B14F-4D97-AF65-F5344CB8AC3E}">
        <p14:creationId xmlns:p14="http://schemas.microsoft.com/office/powerpoint/2010/main" val="28153496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7" Type="http://schemas.openxmlformats.org/officeDocument/2006/relationships/image" Target="../media/image8.sv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svg"/><Relationship Id="rId5" Type="http://schemas.openxmlformats.org/officeDocument/2006/relationships/image" Target="../media/image6.sv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hyperlink" Target="https://ieeexplore.ieee.org/document/10405252" TargetMode="External"/><Relationship Id="rId5" Type="http://schemas.openxmlformats.org/officeDocument/2006/relationships/hyperlink" Target="https://ieeexplore.ieee.org/stamp/stamp.jsp?tp=&amp;arnumber=10077212" TargetMode="External"/><Relationship Id="rId4" Type="http://schemas.openxmlformats.org/officeDocument/2006/relationships/hyperlink" Target="https://ieeexplore.ieee.org/stamp/stamp.jsp?tp=&amp;arnumber=11626104" TargetMode="Externa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2.jpe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7.sv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539655" y="3619500"/>
            <a:ext cx="17145000" cy="20313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6600" b="1" spc="4" dirty="0">
                <a:solidFill>
                  <a:srgbClr val="92A5BC"/>
                </a:solidFill>
                <a:latin typeface="Montserrat Bold"/>
              </a:rPr>
              <a:t>Impact of Traffic Demand on LEO NTN Performance Using SNS-3</a:t>
            </a:r>
            <a:endParaRPr lang="en-US" sz="6600" b="1" spc="4" dirty="0">
              <a:solidFill>
                <a:srgbClr val="92A5BC"/>
              </a:solidFill>
              <a:latin typeface="Montserrat Bold"/>
              <a:sym typeface="Montserrat Bol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571500" y="5845378"/>
            <a:ext cx="17145000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9D9AB1"/>
                </a:solidFill>
                <a:latin typeface="Open Sans Bold"/>
                <a:ea typeface="Open Sans Bold"/>
                <a:cs typeface="Open Sans Bold"/>
                <a:sym typeface="Open Sans Bold"/>
              </a:rPr>
              <a:t>M11502215 · Lucy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grpSp>
        <p:nvGrpSpPr>
          <p:cNvPr id="4" name="Group 4"/>
          <p:cNvGrpSpPr/>
          <p:nvPr/>
        </p:nvGrpSpPr>
        <p:grpSpPr>
          <a:xfrm>
            <a:off x="0" y="0"/>
            <a:ext cx="5486400" cy="10287000"/>
            <a:chOff x="0" y="0"/>
            <a:chExt cx="7315200" cy="13716000"/>
          </a:xfrm>
        </p:grpSpPr>
        <p:sp>
          <p:nvSpPr>
            <p:cNvPr id="5" name="Freeform 5"/>
            <p:cNvSpPr/>
            <p:nvPr/>
          </p:nvSpPr>
          <p:spPr>
            <a:xfrm>
              <a:off x="0" y="0"/>
              <a:ext cx="7315200" cy="13716000"/>
            </a:xfrm>
            <a:custGeom>
              <a:avLst/>
              <a:gdLst/>
              <a:ahLst/>
              <a:cxnLst/>
              <a:rect l="l" t="t" r="r" b="b"/>
              <a:pathLst>
                <a:path w="7315200" h="13716000">
                  <a:moveTo>
                    <a:pt x="0" y="0"/>
                  </a:moveTo>
                  <a:lnTo>
                    <a:pt x="7315200" y="0"/>
                  </a:lnTo>
                  <a:lnTo>
                    <a:pt x="73152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5F5F5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6" name="TextBox 6"/>
          <p:cNvSpPr txBox="1"/>
          <p:nvPr/>
        </p:nvSpPr>
        <p:spPr>
          <a:xfrm rot="-5400000">
            <a:off x="570310" y="4735116"/>
            <a:ext cx="4364831" cy="81676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879"/>
              </a:lnSpc>
            </a:pPr>
            <a:r>
              <a:rPr lang="en-US" sz="4899" b="1" spc="5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CONTENTS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6629400" y="1714500"/>
            <a:ext cx="714375" cy="55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7772400" y="1759144"/>
            <a:ext cx="8772525" cy="46791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dirty="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Introduction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629400" y="2843212"/>
            <a:ext cx="714375" cy="55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7772400" y="2887856"/>
            <a:ext cx="8772525" cy="3712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dirty="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Reference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6629400" y="3971925"/>
            <a:ext cx="714375" cy="55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7772400" y="4016578"/>
            <a:ext cx="8772525" cy="36933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998"/>
              </a:lnSpc>
            </a:pPr>
            <a:r>
              <a:rPr lang="en-US" sz="2499" dirty="0">
                <a:solidFill>
                  <a:srgbClr val="3D3D3D"/>
                </a:solidFill>
                <a:latin typeface="Open Sans"/>
                <a:ea typeface="Open Sans"/>
                <a:cs typeface="Open Sans"/>
                <a:sym typeface="Open Sans"/>
              </a:rPr>
              <a:t>System Architecture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6629400" y="5100638"/>
            <a:ext cx="714375" cy="557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200" b="1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772400" y="5145291"/>
            <a:ext cx="8772525" cy="38459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ct val="100000"/>
              </a:lnSpc>
            </a:pPr>
            <a:r>
              <a:rPr lang="en-US" sz="2499" dirty="0">
                <a:solidFill>
                  <a:srgbClr val="3D3D3D"/>
                </a:solidFill>
                <a:latin typeface="Open Sans"/>
                <a:ea typeface="Open Sans"/>
                <a:cs typeface="Open Sans"/>
              </a:rPr>
              <a:t>Expected Deliverables</a:t>
            </a:r>
            <a:endParaRPr lang="en-US" sz="2499" dirty="0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43000" y="4524375"/>
            <a:ext cx="4572000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5"/>
              </a:lnSpc>
            </a:pPr>
            <a:r>
              <a:rPr lang="en-US" sz="33099" b="1" dirty="0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000625" y="3998709"/>
            <a:ext cx="85725" cy="2289620"/>
            <a:chOff x="0" y="0"/>
            <a:chExt cx="114300" cy="30528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" cy="3052826"/>
            </a:xfrm>
            <a:custGeom>
              <a:avLst/>
              <a:gdLst/>
              <a:ahLst/>
              <a:cxnLst/>
              <a:rect l="l" t="t" r="r" b="b"/>
              <a:pathLst>
                <a:path w="114300" h="3052826">
                  <a:moveTo>
                    <a:pt x="0" y="0"/>
                  </a:moveTo>
                  <a:lnTo>
                    <a:pt x="114300" y="0"/>
                  </a:lnTo>
                  <a:lnTo>
                    <a:pt x="114300" y="3052826"/>
                  </a:lnTo>
                  <a:lnTo>
                    <a:pt x="0" y="3052826"/>
                  </a:lnTo>
                  <a:close/>
                </a:path>
              </a:pathLst>
            </a:custGeom>
            <a:solidFill>
              <a:srgbClr val="9FB5CF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643563" y="4872212"/>
            <a:ext cx="7143750" cy="97512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INTRODUCTION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" name="Group 11"/>
          <p:cNvGrpSpPr/>
          <p:nvPr/>
        </p:nvGrpSpPr>
        <p:grpSpPr>
          <a:xfrm>
            <a:off x="292653" y="6348921"/>
            <a:ext cx="571500" cy="571500"/>
            <a:chOff x="0" y="0"/>
            <a:chExt cx="762000" cy="762000"/>
          </a:xfrm>
        </p:grpSpPr>
        <p:sp>
          <p:nvSpPr>
            <p:cNvPr id="12" name="Freeform 1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CABCCB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6" name="Group 16"/>
          <p:cNvGrpSpPr/>
          <p:nvPr/>
        </p:nvGrpSpPr>
        <p:grpSpPr>
          <a:xfrm>
            <a:off x="292653" y="7277609"/>
            <a:ext cx="571500" cy="571500"/>
            <a:chOff x="0" y="0"/>
            <a:chExt cx="762000" cy="762000"/>
          </a:xfrm>
        </p:grpSpPr>
        <p:sp>
          <p:nvSpPr>
            <p:cNvPr id="17" name="Freeform 1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FB5CF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" name="Group 21"/>
          <p:cNvGrpSpPr/>
          <p:nvPr/>
        </p:nvGrpSpPr>
        <p:grpSpPr>
          <a:xfrm>
            <a:off x="292653" y="8206306"/>
            <a:ext cx="571500" cy="571500"/>
            <a:chOff x="0" y="0"/>
            <a:chExt cx="762000" cy="762000"/>
          </a:xfrm>
        </p:grpSpPr>
        <p:sp>
          <p:nvSpPr>
            <p:cNvPr id="22" name="Freeform 22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CCDEE0"/>
            </a:solid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" name="Group 26"/>
          <p:cNvGrpSpPr/>
          <p:nvPr/>
        </p:nvGrpSpPr>
        <p:grpSpPr>
          <a:xfrm>
            <a:off x="292653" y="9134993"/>
            <a:ext cx="571500" cy="571500"/>
            <a:chOff x="0" y="0"/>
            <a:chExt cx="762000" cy="762000"/>
          </a:xfrm>
        </p:grpSpPr>
        <p:sp>
          <p:nvSpPr>
            <p:cNvPr id="27" name="Freeform 27"/>
            <p:cNvSpPr/>
            <p:nvPr/>
          </p:nvSpPr>
          <p:spPr>
            <a:xfrm>
              <a:off x="0" y="0"/>
              <a:ext cx="762000" cy="762000"/>
            </a:xfrm>
            <a:custGeom>
              <a:avLst/>
              <a:gdLst/>
              <a:ahLst/>
              <a:cxnLst/>
              <a:rect l="l" t="t" r="r" b="b"/>
              <a:pathLst>
                <a:path w="762000" h="762000">
                  <a:moveTo>
                    <a:pt x="0" y="381000"/>
                  </a:moveTo>
                  <a:cubicBezTo>
                    <a:pt x="0" y="170561"/>
                    <a:pt x="170561" y="0"/>
                    <a:pt x="381000" y="0"/>
                  </a:cubicBezTo>
                  <a:cubicBezTo>
                    <a:pt x="591439" y="0"/>
                    <a:pt x="762000" y="170561"/>
                    <a:pt x="762000" y="381000"/>
                  </a:cubicBezTo>
                  <a:cubicBezTo>
                    <a:pt x="762000" y="591439"/>
                    <a:pt x="591439" y="762000"/>
                    <a:pt x="381000" y="762000"/>
                  </a:cubicBezTo>
                  <a:cubicBezTo>
                    <a:pt x="170561" y="762000"/>
                    <a:pt x="0" y="591439"/>
                    <a:pt x="0" y="381000"/>
                  </a:cubicBezTo>
                  <a:close/>
                </a:path>
              </a:pathLst>
            </a:custGeom>
            <a:solidFill>
              <a:srgbClr val="9D9AB1"/>
            </a:solidFill>
          </p:spPr>
          <p:txBody>
            <a:bodyPr/>
            <a:lstStyle/>
            <a:p>
              <a:endParaRPr lang="en-US"/>
            </a:p>
          </p:txBody>
        </p:sp>
      </p:grpSp>
      <p:pic>
        <p:nvPicPr>
          <p:cNvPr id="32" name="Graphic 31" descr="Satellite dish with solid fill">
            <a:extLst>
              <a:ext uri="{FF2B5EF4-FFF2-40B4-BE49-F238E27FC236}">
                <a16:creationId xmlns:a16="http://schemas.microsoft.com/office/drawing/2014/main" id="{61F15419-C2BA-C9D6-74BF-DD3EDDF4FEC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469684" y="6647454"/>
            <a:ext cx="1683600" cy="1683600"/>
          </a:xfrm>
          <a:prstGeom prst="rect">
            <a:avLst/>
          </a:prstGeom>
        </p:spPr>
      </p:pic>
      <p:pic>
        <p:nvPicPr>
          <p:cNvPr id="34" name="Graphic 33" descr="Satellite with solid fill">
            <a:extLst>
              <a:ext uri="{FF2B5EF4-FFF2-40B4-BE49-F238E27FC236}">
                <a16:creationId xmlns:a16="http://schemas.microsoft.com/office/drawing/2014/main" id="{B917F853-2CE1-0501-6FB1-203D4AF6B6E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7848600" y="2896736"/>
            <a:ext cx="1683600" cy="1683600"/>
          </a:xfrm>
          <a:prstGeom prst="rect">
            <a:avLst/>
          </a:prstGeom>
        </p:spPr>
      </p:pic>
      <p:grpSp>
        <p:nvGrpSpPr>
          <p:cNvPr id="13" name="Group 12">
            <a:extLst>
              <a:ext uri="{FF2B5EF4-FFF2-40B4-BE49-F238E27FC236}">
                <a16:creationId xmlns:a16="http://schemas.microsoft.com/office/drawing/2014/main" id="{58A8B3F8-4247-B82D-C2DB-DE6F2CD4E47C}"/>
              </a:ext>
            </a:extLst>
          </p:cNvPr>
          <p:cNvGrpSpPr/>
          <p:nvPr/>
        </p:nvGrpSpPr>
        <p:grpSpPr>
          <a:xfrm>
            <a:off x="1537452" y="6598888"/>
            <a:ext cx="2301480" cy="2151560"/>
            <a:chOff x="6679612" y="4972182"/>
            <a:chExt cx="2301480" cy="2151560"/>
          </a:xfrm>
        </p:grpSpPr>
        <p:pic>
          <p:nvPicPr>
            <p:cNvPr id="36" name="Graphic 35" descr="Computer with solid fill">
              <a:extLst>
                <a:ext uri="{FF2B5EF4-FFF2-40B4-BE49-F238E27FC236}">
                  <a16:creationId xmlns:a16="http://schemas.microsoft.com/office/drawing/2014/main" id="{F6565539-C709-0F2B-7046-20D89535FD8D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38" name="Graphic 37" descr="Users with solid fill">
              <a:extLst>
                <a:ext uri="{FF2B5EF4-FFF2-40B4-BE49-F238E27FC236}">
                  <a16:creationId xmlns:a16="http://schemas.microsoft.com/office/drawing/2014/main" id="{F326BFA7-F4DA-5E3B-5BB8-2DE958054B30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pic>
        <p:nvPicPr>
          <p:cNvPr id="40" name="Graphic 39" descr="Server with solid fill">
            <a:extLst>
              <a:ext uri="{FF2B5EF4-FFF2-40B4-BE49-F238E27FC236}">
                <a16:creationId xmlns:a16="http://schemas.microsoft.com/office/drawing/2014/main" id="{702030FC-A6DE-CA97-495E-6886CE6C6E3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4968295" y="6502660"/>
            <a:ext cx="1683600" cy="1683600"/>
          </a:xfrm>
          <a:prstGeom prst="rect">
            <a:avLst/>
          </a:prstGeom>
        </p:spPr>
      </p:pic>
      <p:sp>
        <p:nvSpPr>
          <p:cNvPr id="42" name="TextBox 7">
            <a:extLst>
              <a:ext uri="{FF2B5EF4-FFF2-40B4-BE49-F238E27FC236}">
                <a16:creationId xmlns:a16="http://schemas.microsoft.com/office/drawing/2014/main" id="{EB55604C-BB87-E72B-4580-84906E4F86A8}"/>
              </a:ext>
            </a:extLst>
          </p:cNvPr>
          <p:cNvSpPr txBox="1"/>
          <p:nvPr/>
        </p:nvSpPr>
        <p:spPr>
          <a:xfrm>
            <a:off x="927524" y="947072"/>
            <a:ext cx="11721675" cy="87203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NTN Structure- User Plane</a:t>
            </a:r>
          </a:p>
        </p:txBody>
      </p:sp>
      <p:pic>
        <p:nvPicPr>
          <p:cNvPr id="44" name="Graphic 43" descr="Satellite dish with solid fill">
            <a:extLst>
              <a:ext uri="{FF2B5EF4-FFF2-40B4-BE49-F238E27FC236}">
                <a16:creationId xmlns:a16="http://schemas.microsoft.com/office/drawing/2014/main" id="{294715B4-1DC8-F8E6-C186-B7688B2E5A0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flipH="1">
            <a:off x="11042753" y="6502660"/>
            <a:ext cx="1683600" cy="1683600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id="{A04E16D3-545B-CB7B-13B2-1F1CFF32ACBE}"/>
              </a:ext>
            </a:extLst>
          </p:cNvPr>
          <p:cNvSpPr txBox="1"/>
          <p:nvPr/>
        </p:nvSpPr>
        <p:spPr>
          <a:xfrm>
            <a:off x="2042358" y="8448329"/>
            <a:ext cx="106631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User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0E49F21-E3C0-B22F-36FF-9E0636BDA1E0}"/>
              </a:ext>
            </a:extLst>
          </p:cNvPr>
          <p:cNvSpPr txBox="1"/>
          <p:nvPr/>
        </p:nvSpPr>
        <p:spPr>
          <a:xfrm>
            <a:off x="14968295" y="8352101"/>
            <a:ext cx="185281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Network</a:t>
            </a:r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B99BB2B6-56A1-7DE0-F647-4B48FDB28B43}"/>
              </a:ext>
            </a:extLst>
          </p:cNvPr>
          <p:cNvSpPr txBox="1"/>
          <p:nvPr/>
        </p:nvSpPr>
        <p:spPr>
          <a:xfrm>
            <a:off x="5485606" y="8496895"/>
            <a:ext cx="283462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User Terminal</a:t>
            </a:r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A7B45CDB-F6B7-ADCD-B721-7E80BCE6FD36}"/>
              </a:ext>
            </a:extLst>
          </p:cNvPr>
          <p:cNvSpPr txBox="1"/>
          <p:nvPr/>
        </p:nvSpPr>
        <p:spPr>
          <a:xfrm>
            <a:off x="9375460" y="2730160"/>
            <a:ext cx="17416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Satellite</a:t>
            </a:r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154CB823-CF2B-AA83-50C6-E94DFA2CFD4E}"/>
              </a:ext>
            </a:extLst>
          </p:cNvPr>
          <p:cNvSpPr txBox="1"/>
          <p:nvPr/>
        </p:nvSpPr>
        <p:spPr>
          <a:xfrm>
            <a:off x="11046264" y="8331054"/>
            <a:ext cx="186480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Gateway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7603F0D-9D9B-C150-0633-0E220093B5AE}"/>
              </a:ext>
            </a:extLst>
          </p:cNvPr>
          <p:cNvSpPr txBox="1"/>
          <p:nvPr/>
        </p:nvSpPr>
        <p:spPr>
          <a:xfrm>
            <a:off x="10693522" y="4594951"/>
            <a:ext cx="238206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Feeder Link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1A3D70E-FF95-7B9B-7013-7112E8F2016A}"/>
              </a:ext>
            </a:extLst>
          </p:cNvPr>
          <p:cNvSpPr txBox="1"/>
          <p:nvPr/>
        </p:nvSpPr>
        <p:spPr>
          <a:xfrm>
            <a:off x="4481498" y="4764304"/>
            <a:ext cx="24441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Service Link</a:t>
            </a:r>
          </a:p>
        </p:txBody>
      </p:sp>
      <p:cxnSp>
        <p:nvCxnSpPr>
          <p:cNvPr id="48" name="Straight Connector 47">
            <a:extLst>
              <a:ext uri="{FF2B5EF4-FFF2-40B4-BE49-F238E27FC236}">
                <a16:creationId xmlns:a16="http://schemas.microsoft.com/office/drawing/2014/main" id="{200BCAAC-93D9-520E-1ECD-6566268AC8C4}"/>
              </a:ext>
            </a:extLst>
          </p:cNvPr>
          <p:cNvCxnSpPr>
            <a:cxnSpLocks/>
          </p:cNvCxnSpPr>
          <p:nvPr/>
        </p:nvCxnSpPr>
        <p:spPr>
          <a:xfrm flipH="1">
            <a:off x="13182600" y="7489254"/>
            <a:ext cx="142989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>
            <a:extLst>
              <a:ext uri="{FF2B5EF4-FFF2-40B4-BE49-F238E27FC236}">
                <a16:creationId xmlns:a16="http://schemas.microsoft.com/office/drawing/2014/main" id="{BE3C3F3A-DB81-6505-C39D-C0E098A27F3C}"/>
              </a:ext>
            </a:extLst>
          </p:cNvPr>
          <p:cNvCxnSpPr>
            <a:cxnSpLocks/>
          </p:cNvCxnSpPr>
          <p:nvPr/>
        </p:nvCxnSpPr>
        <p:spPr>
          <a:xfrm flipH="1">
            <a:off x="4099282" y="7701586"/>
            <a:ext cx="1429894" cy="0"/>
          </a:xfrm>
          <a:prstGeom prst="line">
            <a:avLst/>
          </a:prstGeom>
          <a:ln w="5715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521EB40B-645B-80CE-974D-A2172C36E006}"/>
              </a:ext>
            </a:extLst>
          </p:cNvPr>
          <p:cNvCxnSpPr/>
          <p:nvPr/>
        </p:nvCxnSpPr>
        <p:spPr>
          <a:xfrm flipH="1">
            <a:off x="6575030" y="4850857"/>
            <a:ext cx="1174283" cy="1374348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1FD4441A-0409-134F-BF67-B639CAEBC4A8}"/>
              </a:ext>
            </a:extLst>
          </p:cNvPr>
          <p:cNvCxnSpPr>
            <a:cxnSpLocks/>
          </p:cNvCxnSpPr>
          <p:nvPr/>
        </p:nvCxnSpPr>
        <p:spPr>
          <a:xfrm>
            <a:off x="9747281" y="4918116"/>
            <a:ext cx="1117572" cy="1374348"/>
          </a:xfrm>
          <a:prstGeom prst="straightConnector1">
            <a:avLst/>
          </a:prstGeom>
          <a:ln w="571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43000" y="4524375"/>
            <a:ext cx="5422106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5"/>
              </a:lnSpc>
            </a:pPr>
            <a:r>
              <a:rPr lang="en-US" sz="33099" b="1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000625" y="3998709"/>
            <a:ext cx="85725" cy="2289620"/>
            <a:chOff x="0" y="0"/>
            <a:chExt cx="114300" cy="30528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" cy="3052826"/>
            </a:xfrm>
            <a:custGeom>
              <a:avLst/>
              <a:gdLst/>
              <a:ahLst/>
              <a:cxnLst/>
              <a:rect l="l" t="t" r="r" b="b"/>
              <a:pathLst>
                <a:path w="114300" h="3052826">
                  <a:moveTo>
                    <a:pt x="0" y="0"/>
                  </a:moveTo>
                  <a:lnTo>
                    <a:pt x="114300" y="0"/>
                  </a:lnTo>
                  <a:lnTo>
                    <a:pt x="114300" y="3052826"/>
                  </a:lnTo>
                  <a:lnTo>
                    <a:pt x="0" y="3052826"/>
                  </a:lnTo>
                  <a:close/>
                </a:path>
              </a:pathLst>
            </a:custGeom>
            <a:solidFill>
              <a:srgbClr val="9D9AB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10200" y="4923756"/>
            <a:ext cx="973335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7086600" y="405809"/>
            <a:ext cx="16002000" cy="58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4799"/>
              </a:lnSpc>
            </a:pPr>
            <a:r>
              <a:rPr lang="en-US" sz="3999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Reference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1104843" y="5321684"/>
            <a:ext cx="4953019" cy="3128962"/>
          </a:xfrm>
          <a:prstGeom prst="rect">
            <a:avLst/>
          </a:prstGeom>
        </p:spPr>
        <p:txBody>
          <a:bodyPr lIns="0" tIns="0" rIns="0" bIns="0" rtlCol="0" anchor="ctr"/>
          <a:lstStyle/>
          <a:p>
            <a:pPr algn="ctr">
              <a:lnSpc>
                <a:spcPts val="2160"/>
              </a:lnSpc>
            </a:pPr>
            <a:endParaRPr lang="en-US" sz="1800" b="1" spc="1" dirty="0">
              <a:solidFill>
                <a:srgbClr val="92A5BC"/>
              </a:solidFill>
              <a:latin typeface="Open Sans Bold"/>
              <a:ea typeface="Open Sans Bold"/>
              <a:cs typeface="Open Sans Bold"/>
              <a:sym typeface="Open Sans Bold"/>
            </a:endParaRPr>
          </a:p>
        </p:txBody>
      </p:sp>
      <p:sp>
        <p:nvSpPr>
          <p:cNvPr id="62" name="TextBox 22">
            <a:extLst>
              <a:ext uri="{FF2B5EF4-FFF2-40B4-BE49-F238E27FC236}">
                <a16:creationId xmlns:a16="http://schemas.microsoft.com/office/drawing/2014/main" id="{640F1111-35D1-9123-7224-19521BF5AFB2}"/>
              </a:ext>
            </a:extLst>
          </p:cNvPr>
          <p:cNvSpPr txBox="1">
            <a:spLocks/>
          </p:cNvSpPr>
          <p:nvPr/>
        </p:nvSpPr>
        <p:spPr>
          <a:xfrm>
            <a:off x="576642" y="9131540"/>
            <a:ext cx="9253157" cy="76944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2038"/>
              </a:lnSpc>
            </a:pP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[1] </a:t>
            </a: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  <a:hlinkClick r:id="rId4"/>
              </a:rPr>
              <a:t>RECENT DEVELOPMENT ON NTN COMMUNICATION  TOWARD 6G</a:t>
            </a:r>
            <a:endParaRPr lang="en-US" sz="1700" dirty="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38"/>
              </a:lnSpc>
            </a:pP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[2] </a:t>
            </a: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  <a:hlinkClick r:id="rId5"/>
              </a:rPr>
              <a:t>Satellite and terrestrial Network Convergence On The Way Toward 6G</a:t>
            </a:r>
            <a:endParaRPr lang="en-US" sz="1700" dirty="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>
              <a:lnSpc>
                <a:spcPts val="2038"/>
              </a:lnSpc>
            </a:pP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</a:rPr>
              <a:t>[3] </a:t>
            </a:r>
            <a:r>
              <a:rPr lang="en-US" sz="1700" dirty="0">
                <a:solidFill>
                  <a:srgbClr val="555555"/>
                </a:solidFill>
                <a:latin typeface="Open Sans"/>
                <a:ea typeface="Open Sans"/>
                <a:cs typeface="Open Sans"/>
                <a:sym typeface="Open Sans"/>
                <a:hlinkClick r:id="rId6"/>
              </a:rPr>
              <a:t>Dynamic Beam Hopping for LEO Satellites with  Differentiated Traffic Demands</a:t>
            </a:r>
            <a:endParaRPr lang="en-US" sz="1700" dirty="0">
              <a:solidFill>
                <a:srgbClr val="555555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0CC10021-6691-7062-C528-B586FA8B7D44}"/>
              </a:ext>
            </a:extLst>
          </p:cNvPr>
          <p:cNvSpPr/>
          <p:nvPr/>
        </p:nvSpPr>
        <p:spPr>
          <a:xfrm>
            <a:off x="8153400" y="1714500"/>
            <a:ext cx="2057400" cy="58836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6391C839-5026-64CE-A215-13951854B9B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90723878"/>
              </p:ext>
            </p:extLst>
          </p:nvPr>
        </p:nvGraphicFramePr>
        <p:xfrm>
          <a:off x="576643" y="2283816"/>
          <a:ext cx="17210913" cy="581456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52550">
                  <a:extLst>
                    <a:ext uri="{9D8B030D-6E8A-4147-A177-3AD203B41FA5}">
                      <a16:colId xmlns:a16="http://schemas.microsoft.com/office/drawing/2014/main" val="1716800632"/>
                    </a:ext>
                  </a:extLst>
                </a:gridCol>
                <a:gridCol w="3048000">
                  <a:extLst>
                    <a:ext uri="{9D8B030D-6E8A-4147-A177-3AD203B41FA5}">
                      <a16:colId xmlns:a16="http://schemas.microsoft.com/office/drawing/2014/main" val="3083148049"/>
                    </a:ext>
                  </a:extLst>
                </a:gridCol>
                <a:gridCol w="4419600">
                  <a:extLst>
                    <a:ext uri="{9D8B030D-6E8A-4147-A177-3AD203B41FA5}">
                      <a16:colId xmlns:a16="http://schemas.microsoft.com/office/drawing/2014/main" val="760251144"/>
                    </a:ext>
                  </a:extLst>
                </a:gridCol>
                <a:gridCol w="3590163">
                  <a:extLst>
                    <a:ext uri="{9D8B030D-6E8A-4147-A177-3AD203B41FA5}">
                      <a16:colId xmlns:a16="http://schemas.microsoft.com/office/drawing/2014/main" val="3420372703"/>
                    </a:ext>
                  </a:extLst>
                </a:gridCol>
                <a:gridCol w="4800600">
                  <a:extLst>
                    <a:ext uri="{9D8B030D-6E8A-4147-A177-3AD203B41FA5}">
                      <a16:colId xmlns:a16="http://schemas.microsoft.com/office/drawing/2014/main" val="354253203"/>
                    </a:ext>
                  </a:extLst>
                </a:gridCol>
              </a:tblGrid>
              <a:tr h="329991">
                <a:tc>
                  <a:txBody>
                    <a:bodyPr/>
                    <a:lstStyle/>
                    <a:p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Space/Beam Coverage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Network </a:t>
                      </a:r>
                      <a:r>
                        <a:rPr lang="en-US" sz="2000" dirty="0" err="1"/>
                        <a:t>Architecutre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Traffic Demand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Performance Evaluation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33608749"/>
                  </a:ext>
                </a:extLst>
              </a:tr>
              <a:tr h="948978">
                <a:tc>
                  <a:txBody>
                    <a:bodyPr/>
                    <a:lstStyle/>
                    <a:p>
                      <a:r>
                        <a:rPr lang="en-US" sz="2000" dirty="0"/>
                        <a:t>[1]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LEO field trial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Transparent satellites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Ground-side </a:t>
                      </a:r>
                      <a:r>
                        <a:rPr lang="en-US" sz="2000" dirty="0" err="1"/>
                        <a:t>gNB</a:t>
                      </a:r>
                      <a:r>
                        <a:rPr lang="en-US" sz="2000" dirty="0"/>
                        <a:t> and core network</a:t>
                      </a:r>
                    </a:p>
                    <a:p>
                      <a:pPr marL="285750" indent="-28575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Fixed and vehicle-mounted terminals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Measured DL/UL MAC throughput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Examined NTN-specific communication effects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201942262"/>
                  </a:ext>
                </a:extLst>
              </a:tr>
              <a:tr h="1486404">
                <a:tc>
                  <a:txBody>
                    <a:bodyPr/>
                    <a:lstStyle/>
                    <a:p>
                      <a:r>
                        <a:rPr lang="en-US" sz="2000" dirty="0"/>
                        <a:t>[2]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Defines 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Earth-fixed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Quasi-Earth-fixed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Earth-moving beam coverage 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Transparent satellite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Service/feeder links.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X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Propagation delay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Doppler shift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Link-budget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52481565"/>
                  </a:ext>
                </a:extLst>
              </a:tr>
              <a:tr h="1486404">
                <a:tc>
                  <a:txBody>
                    <a:bodyPr/>
                    <a:lstStyle/>
                    <a:p>
                      <a:r>
                        <a:rPr lang="en-US" altLang="zh-TW" sz="2000" dirty="0"/>
                        <a:t>[3]</a:t>
                      </a:r>
                      <a:endParaRPr lang="en-US" sz="20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Ground cells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Differentiated demand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Satellite network model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2000" dirty="0"/>
                        <a:t>Models spatially and temporally differentiated traffic demand at the cell level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Satisfaction,</a:t>
                      </a:r>
                    </a:p>
                    <a:p>
                      <a:pPr marL="457200" indent="-4572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Service fairness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49459606"/>
                  </a:ext>
                </a:extLst>
              </a:tr>
              <a:tr h="1256095">
                <a:tc>
                  <a:txBody>
                    <a:bodyPr/>
                    <a:lstStyle/>
                    <a:p>
                      <a:r>
                        <a:rPr lang="en-US" sz="2000" dirty="0"/>
                        <a:t>Proposal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Moving LEO satellites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Fixed UTs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Earth-fixed cells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Transparent 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GW → Satellite → UT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Generate demand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Aggregate demand by cell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Vary traffic load and spatial distribution.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Evaluates demand satisfaction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Throughput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End-to-end delay</a:t>
                      </a:r>
                    </a:p>
                    <a:p>
                      <a:pPr marL="342900" indent="-342900">
                        <a:buFont typeface="Arial" panose="020B0604020202020204" pitchFamily="34" charset="0"/>
                        <a:buChar char="•"/>
                      </a:pPr>
                      <a:r>
                        <a:rPr lang="en-US" sz="2000" dirty="0"/>
                        <a:t>PDR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61650863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2">
            <a:extLst>
              <a:ext uri="{FF2B5EF4-FFF2-40B4-BE49-F238E27FC236}">
                <a16:creationId xmlns:a16="http://schemas.microsoft.com/office/drawing/2014/main" id="{7D2A4E24-6864-117A-44D2-C4AC2149C927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3" descr="preencoded.png">
              <a:extLst>
                <a:ext uri="{FF2B5EF4-FFF2-40B4-BE49-F238E27FC236}">
                  <a16:creationId xmlns:a16="http://schemas.microsoft.com/office/drawing/2014/main" id="{EC2BD570-0FC6-FFBA-5C18-688EDAAB55DF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4">
            <a:extLst>
              <a:ext uri="{FF2B5EF4-FFF2-40B4-BE49-F238E27FC236}">
                <a16:creationId xmlns:a16="http://schemas.microsoft.com/office/drawing/2014/main" id="{97100FFF-3DBC-4C4A-014B-85BCA25C589F}"/>
              </a:ext>
            </a:extLst>
          </p:cNvPr>
          <p:cNvSpPr txBox="1"/>
          <p:nvPr/>
        </p:nvSpPr>
        <p:spPr>
          <a:xfrm>
            <a:off x="1143000" y="1152525"/>
            <a:ext cx="16002000" cy="58836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 spc="3" dirty="0" err="1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Gap&amp;Challange</a:t>
            </a:r>
            <a:endParaRPr lang="en-US" sz="3999" b="1" spc="3" dirty="0">
              <a:solidFill>
                <a:srgbClr val="92A5B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9" name="TextBox 7">
            <a:extLst>
              <a:ext uri="{FF2B5EF4-FFF2-40B4-BE49-F238E27FC236}">
                <a16:creationId xmlns:a16="http://schemas.microsoft.com/office/drawing/2014/main" id="{86ECCC10-160F-5CE5-7385-B5250DE67406}"/>
              </a:ext>
            </a:extLst>
          </p:cNvPr>
          <p:cNvSpPr txBox="1"/>
          <p:nvPr/>
        </p:nvSpPr>
        <p:spPr>
          <a:xfrm>
            <a:off x="3200400" y="3117656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11" name="TextBox 8">
            <a:extLst>
              <a:ext uri="{FF2B5EF4-FFF2-40B4-BE49-F238E27FC236}">
                <a16:creationId xmlns:a16="http://schemas.microsoft.com/office/drawing/2014/main" id="{AA0A1C68-1BAC-141A-25FD-162D73F21AC2}"/>
              </a:ext>
            </a:extLst>
          </p:cNvPr>
          <p:cNvSpPr txBox="1"/>
          <p:nvPr/>
        </p:nvSpPr>
        <p:spPr>
          <a:xfrm>
            <a:off x="4317242" y="3015994"/>
            <a:ext cx="12230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LEO mobility changes beam footprint and service coverage.</a:t>
            </a:r>
            <a:endParaRPr lang="en-US" sz="3600" dirty="0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3" name="TextBox 7">
            <a:extLst>
              <a:ext uri="{FF2B5EF4-FFF2-40B4-BE49-F238E27FC236}">
                <a16:creationId xmlns:a16="http://schemas.microsoft.com/office/drawing/2014/main" id="{5D7B3630-91C3-0991-548B-186401B71EED}"/>
              </a:ext>
            </a:extLst>
          </p:cNvPr>
          <p:cNvSpPr txBox="1"/>
          <p:nvPr/>
        </p:nvSpPr>
        <p:spPr>
          <a:xfrm>
            <a:off x="3200399" y="4656187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5" name="TextBox 8">
            <a:extLst>
              <a:ext uri="{FF2B5EF4-FFF2-40B4-BE49-F238E27FC236}">
                <a16:creationId xmlns:a16="http://schemas.microsoft.com/office/drawing/2014/main" id="{52536944-F42D-2333-C3AE-B087841F36BD}"/>
              </a:ext>
            </a:extLst>
          </p:cNvPr>
          <p:cNvSpPr txBox="1"/>
          <p:nvPr/>
        </p:nvSpPr>
        <p:spPr>
          <a:xfrm>
            <a:off x="4317242" y="4589502"/>
            <a:ext cx="12230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Differentiated traffic demand across geographical cells</a:t>
            </a:r>
            <a:endParaRPr lang="en-US" sz="3600" dirty="0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7" name="TextBox 7">
            <a:extLst>
              <a:ext uri="{FF2B5EF4-FFF2-40B4-BE49-F238E27FC236}">
                <a16:creationId xmlns:a16="http://schemas.microsoft.com/office/drawing/2014/main" id="{7923A207-2CE9-D6DF-BD99-C70CE3326CE4}"/>
              </a:ext>
            </a:extLst>
          </p:cNvPr>
          <p:cNvSpPr txBox="1"/>
          <p:nvPr/>
        </p:nvSpPr>
        <p:spPr>
          <a:xfrm>
            <a:off x="3183339" y="6234676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63316B39-6922-BB6E-5852-9770512D5457}"/>
              </a:ext>
            </a:extLst>
          </p:cNvPr>
          <p:cNvSpPr txBox="1"/>
          <p:nvPr/>
        </p:nvSpPr>
        <p:spPr>
          <a:xfrm>
            <a:off x="4300182" y="6167991"/>
            <a:ext cx="1223010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dirty="0"/>
              <a:t>Mismatch between offered traffic demand and delivered service</a:t>
            </a:r>
            <a:endParaRPr lang="en-US" sz="3600" dirty="0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164779234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143000" y="4524375"/>
            <a:ext cx="5404247" cy="27622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1775"/>
              </a:lnSpc>
            </a:pPr>
            <a:r>
              <a:rPr lang="en-US" sz="33099" b="1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grpSp>
        <p:nvGrpSpPr>
          <p:cNvPr id="5" name="Group 5"/>
          <p:cNvGrpSpPr/>
          <p:nvPr/>
        </p:nvGrpSpPr>
        <p:grpSpPr>
          <a:xfrm>
            <a:off x="5000625" y="3998709"/>
            <a:ext cx="85725" cy="2289620"/>
            <a:chOff x="0" y="0"/>
            <a:chExt cx="114300" cy="3052826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114300" cy="3052826"/>
            </a:xfrm>
            <a:custGeom>
              <a:avLst/>
              <a:gdLst/>
              <a:ahLst/>
              <a:cxnLst/>
              <a:rect l="l" t="t" r="r" b="b"/>
              <a:pathLst>
                <a:path w="114300" h="3052826">
                  <a:moveTo>
                    <a:pt x="0" y="0"/>
                  </a:moveTo>
                  <a:lnTo>
                    <a:pt x="114300" y="0"/>
                  </a:lnTo>
                  <a:lnTo>
                    <a:pt x="114300" y="3052826"/>
                  </a:lnTo>
                  <a:lnTo>
                    <a:pt x="0" y="3052826"/>
                  </a:lnTo>
                  <a:close/>
                </a:path>
              </a:pathLst>
            </a:custGeom>
            <a:solidFill>
              <a:srgbClr val="CCDEE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/>
          <p:cNvSpPr txBox="1"/>
          <p:nvPr/>
        </p:nvSpPr>
        <p:spPr>
          <a:xfrm>
            <a:off x="5410200" y="5143500"/>
            <a:ext cx="10904934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System Architecture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/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/>
          <p:cNvSpPr txBox="1"/>
          <p:nvPr/>
        </p:nvSpPr>
        <p:spPr>
          <a:xfrm>
            <a:off x="1714500" y="1152525"/>
            <a:ext cx="14859000" cy="120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 spc="3" dirty="0">
                <a:solidFill>
                  <a:srgbClr val="92A5BC"/>
                </a:solidFill>
                <a:latin typeface="Montserrat Bold"/>
                <a:sym typeface="Open Sans"/>
              </a:rPr>
              <a:t>System Architecture</a:t>
            </a:r>
          </a:p>
          <a:p>
            <a:pPr algn="ctr">
              <a:lnSpc>
                <a:spcPts val="4799"/>
              </a:lnSpc>
            </a:pPr>
            <a:endParaRPr lang="en-US" sz="3999" b="1" spc="3" dirty="0">
              <a:solidFill>
                <a:srgbClr val="92A5B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155" name="Rectangle: Rounded Corners 154">
            <a:extLst>
              <a:ext uri="{FF2B5EF4-FFF2-40B4-BE49-F238E27FC236}">
                <a16:creationId xmlns:a16="http://schemas.microsoft.com/office/drawing/2014/main" id="{1BE4BF6C-9FC0-C785-7126-478B1F788BC1}"/>
              </a:ext>
            </a:extLst>
          </p:cNvPr>
          <p:cNvSpPr/>
          <p:nvPr/>
        </p:nvSpPr>
        <p:spPr>
          <a:xfrm>
            <a:off x="1104528" y="8791675"/>
            <a:ext cx="15863715" cy="1231908"/>
          </a:xfrm>
          <a:prstGeom prst="roundRect">
            <a:avLst/>
          </a:prstGeom>
          <a:solidFill>
            <a:srgbClr val="EEEE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04ABEE8-6B90-D3C0-6629-20A0B947DF6B}"/>
                  </a:ext>
                </a:extLst>
              </p:cNvPr>
              <p:cNvSpPr txBox="1"/>
              <p:nvPr/>
            </p:nvSpPr>
            <p:spPr>
              <a:xfrm>
                <a:off x="1252966" y="8899126"/>
                <a:ext cx="5837683" cy="9887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:r>
                  <a:rPr lang="en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i: the index of satellite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8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  <a:r>
                  <a:rPr lang="zh-TW" altLang="en-US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index of cell j</a:t>
                </a:r>
                <a:endParaRPr lang="en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6" name="TextBox 155">
                <a:extLst>
                  <a:ext uri="{FF2B5EF4-FFF2-40B4-BE49-F238E27FC236}">
                    <a16:creationId xmlns:a16="http://schemas.microsoft.com/office/drawing/2014/main" id="{B04ABEE8-6B90-D3C0-6629-20A0B947DF6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252966" y="8899126"/>
                <a:ext cx="5837683" cy="988797"/>
              </a:xfrm>
              <a:prstGeom prst="rect">
                <a:avLst/>
              </a:prstGeom>
              <a:blipFill>
                <a:blip r:embed="rId4"/>
                <a:stretch>
                  <a:fillRect l="-1881" t="-6790" b="-1296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B40D4C7-50ED-5F84-04D3-BAC82E982E95}"/>
                  </a:ext>
                </a:extLst>
              </p:cNvPr>
              <p:cNvSpPr txBox="1"/>
              <p:nvPr/>
            </p:nvSpPr>
            <p:spPr>
              <a:xfrm>
                <a:off x="6928698" y="8915742"/>
                <a:ext cx="8688735" cy="145924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kumimoji="1" lang="en-US" altLang="zh-TW" sz="28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1" lang="en-US" altLang="zh-TW" sz="2800" i="1" smtClean="0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zh-TW" sz="280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d>
                      <m:dPr>
                        <m:begChr m:val="["/>
                        <m:endChr m:val="]"/>
                        <m:ctrlPr>
                          <a:rPr kumimoji="1" lang="en-US" altLang="zh-TW" sz="2800" i="1" smtClean="0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80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User k traffic demand at frame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Sup>
                      <m:sSubSupPr>
                        <m:ctrlPr>
                          <a:rPr kumimoji="1" lang="en-US" altLang="zh-TW" sz="2800" i="1"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𝐷</m:t>
                        </m:r>
                      </m:e>
                      <m:sub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  <m:sup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kumimoji="1" lang="en-US" altLang="zh-TW" sz="2800" b="0" i="1" smtClean="0">
                            <a:latin typeface="Cambria Math" panose="02040503050406030204" pitchFamily="18" charset="0"/>
                          </a:rPr>
                          <m:t>ervied</m:t>
                        </m:r>
                      </m:sup>
                    </m:sSubSup>
                    <m:d>
                      <m:dPr>
                        <m:begChr m:val="["/>
                        <m:endChr m:val="]"/>
                        <m:ctrlPr>
                          <a:rPr kumimoji="1" lang="en-US" altLang="zh-TW" sz="28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kumimoji="1" lang="en-US" altLang="zh-TW" sz="2800" i="1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</m:d>
                  </m:oMath>
                </a14:m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:User k be </a:t>
                </a:r>
                <a:r>
                  <a:rPr lang="en-US" altLang="zh-TW" sz="28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servied</a:t>
                </a:r>
                <a:r>
                  <a:rPr lang="en-US" altLang="zh-TW" sz="28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traffic at frame n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US" altLang="zh-TW" sz="28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158" name="TextBox 157">
                <a:extLst>
                  <a:ext uri="{FF2B5EF4-FFF2-40B4-BE49-F238E27FC236}">
                    <a16:creationId xmlns:a16="http://schemas.microsoft.com/office/drawing/2014/main" id="{8B40D4C7-50ED-5F84-04D3-BAC82E982E9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28698" y="8915742"/>
                <a:ext cx="8688735" cy="1459246"/>
              </a:xfrm>
              <a:prstGeom prst="rect">
                <a:avLst/>
              </a:prstGeom>
              <a:blipFill>
                <a:blip r:embed="rId5"/>
                <a:stretch>
                  <a:fillRect t="-46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>
            <a:extLst>
              <a:ext uri="{FF2B5EF4-FFF2-40B4-BE49-F238E27FC236}">
                <a16:creationId xmlns:a16="http://schemas.microsoft.com/office/drawing/2014/main" id="{13C00520-A446-A033-2C9A-C5BAFA35DF2F}"/>
              </a:ext>
            </a:extLst>
          </p:cNvPr>
          <p:cNvSpPr txBox="1"/>
          <p:nvPr/>
        </p:nvSpPr>
        <p:spPr>
          <a:xfrm>
            <a:off x="9375460" y="2730160"/>
            <a:ext cx="19596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Satellite</a:t>
            </a:r>
            <a:r>
              <a:rPr lang="zh-TW" altLang="en-US" sz="3600" b="1" dirty="0"/>
              <a:t> </a:t>
            </a:r>
            <a:r>
              <a:rPr lang="en-US" altLang="zh-TW" sz="3600" b="1" dirty="0" err="1"/>
              <a:t>i</a:t>
            </a:r>
            <a:endParaRPr lang="en-US" sz="3600" b="1" dirty="0"/>
          </a:p>
        </p:txBody>
      </p:sp>
      <p:pic>
        <p:nvPicPr>
          <p:cNvPr id="28" name="Graphic 27" descr="Satellite with solid fill">
            <a:extLst>
              <a:ext uri="{FF2B5EF4-FFF2-40B4-BE49-F238E27FC236}">
                <a16:creationId xmlns:a16="http://schemas.microsoft.com/office/drawing/2014/main" id="{79310384-6B06-7D1D-EA14-1468447D5C4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999873" y="2252752"/>
            <a:ext cx="1270481" cy="1270481"/>
          </a:xfrm>
          <a:prstGeom prst="rect">
            <a:avLst/>
          </a:prstGeom>
        </p:spPr>
      </p:pic>
      <p:sp>
        <p:nvSpPr>
          <p:cNvPr id="48" name="Oval 47">
            <a:extLst>
              <a:ext uri="{FF2B5EF4-FFF2-40B4-BE49-F238E27FC236}">
                <a16:creationId xmlns:a16="http://schemas.microsoft.com/office/drawing/2014/main" id="{6033EBC3-AB70-1EEC-5820-1C3D01EA5937}"/>
              </a:ext>
            </a:extLst>
          </p:cNvPr>
          <p:cNvSpPr/>
          <p:nvPr/>
        </p:nvSpPr>
        <p:spPr>
          <a:xfrm>
            <a:off x="1130765" y="6715938"/>
            <a:ext cx="3952856" cy="1683600"/>
          </a:xfrm>
          <a:prstGeom prst="ellipse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762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Satellite dish with solid fill">
            <a:extLst>
              <a:ext uri="{FF2B5EF4-FFF2-40B4-BE49-F238E27FC236}">
                <a16:creationId xmlns:a16="http://schemas.microsoft.com/office/drawing/2014/main" id="{02335C75-62B7-F7C2-E1FE-CFC711BEE78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393105" y="5961082"/>
            <a:ext cx="1454729" cy="1454729"/>
          </a:xfrm>
          <a:prstGeom prst="rect">
            <a:avLst/>
          </a:prstGeom>
        </p:spPr>
      </p:pic>
      <p:grpSp>
        <p:nvGrpSpPr>
          <p:cNvPr id="41" name="Group 40">
            <a:extLst>
              <a:ext uri="{FF2B5EF4-FFF2-40B4-BE49-F238E27FC236}">
                <a16:creationId xmlns:a16="http://schemas.microsoft.com/office/drawing/2014/main" id="{C0A1713B-79D8-7AF4-6313-39A1CBA5601A}"/>
              </a:ext>
            </a:extLst>
          </p:cNvPr>
          <p:cNvGrpSpPr/>
          <p:nvPr/>
        </p:nvGrpSpPr>
        <p:grpSpPr>
          <a:xfrm>
            <a:off x="2963523" y="6833774"/>
            <a:ext cx="769629" cy="776698"/>
            <a:chOff x="6679612" y="4972182"/>
            <a:chExt cx="2301480" cy="2151560"/>
          </a:xfrm>
        </p:grpSpPr>
        <p:pic>
          <p:nvPicPr>
            <p:cNvPr id="42" name="Graphic 41" descr="Computer with solid fill">
              <a:extLst>
                <a:ext uri="{FF2B5EF4-FFF2-40B4-BE49-F238E27FC236}">
                  <a16:creationId xmlns:a16="http://schemas.microsoft.com/office/drawing/2014/main" id="{38AF6FBB-49DF-F956-9F0E-52354930D19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43" name="Graphic 42" descr="Users with solid fill">
              <a:extLst>
                <a:ext uri="{FF2B5EF4-FFF2-40B4-BE49-F238E27FC236}">
                  <a16:creationId xmlns:a16="http://schemas.microsoft.com/office/drawing/2014/main" id="{3C4EF04B-D1B6-1921-1450-C9AECA322814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CBCA3D61-3FD8-3A01-35B1-AFB07CEA9BB4}"/>
              </a:ext>
            </a:extLst>
          </p:cNvPr>
          <p:cNvGrpSpPr/>
          <p:nvPr/>
        </p:nvGrpSpPr>
        <p:grpSpPr>
          <a:xfrm>
            <a:off x="3449199" y="7395477"/>
            <a:ext cx="769629" cy="776698"/>
            <a:chOff x="6679612" y="4972182"/>
            <a:chExt cx="2301480" cy="2151560"/>
          </a:xfrm>
        </p:grpSpPr>
        <p:pic>
          <p:nvPicPr>
            <p:cNvPr id="113" name="Graphic 112" descr="Computer with solid fill">
              <a:extLst>
                <a:ext uri="{FF2B5EF4-FFF2-40B4-BE49-F238E27FC236}">
                  <a16:creationId xmlns:a16="http://schemas.microsoft.com/office/drawing/2014/main" id="{E8FBC355-B4F0-90B8-0B45-57F494435F8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14" name="Graphic 113" descr="Users with solid fill">
              <a:extLst>
                <a:ext uri="{FF2B5EF4-FFF2-40B4-BE49-F238E27FC236}">
                  <a16:creationId xmlns:a16="http://schemas.microsoft.com/office/drawing/2014/main" id="{CAAE3EEE-A8D2-3854-3138-29F2471A2F8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16" name="Group 115">
            <a:extLst>
              <a:ext uri="{FF2B5EF4-FFF2-40B4-BE49-F238E27FC236}">
                <a16:creationId xmlns:a16="http://schemas.microsoft.com/office/drawing/2014/main" id="{9DDCE609-8E78-82E0-AA28-9915D28F72B4}"/>
              </a:ext>
            </a:extLst>
          </p:cNvPr>
          <p:cNvGrpSpPr/>
          <p:nvPr/>
        </p:nvGrpSpPr>
        <p:grpSpPr>
          <a:xfrm>
            <a:off x="2234905" y="7500643"/>
            <a:ext cx="769629" cy="776698"/>
            <a:chOff x="6679612" y="4972182"/>
            <a:chExt cx="2301480" cy="2151560"/>
          </a:xfrm>
        </p:grpSpPr>
        <p:pic>
          <p:nvPicPr>
            <p:cNvPr id="117" name="Graphic 116" descr="Computer with solid fill">
              <a:extLst>
                <a:ext uri="{FF2B5EF4-FFF2-40B4-BE49-F238E27FC236}">
                  <a16:creationId xmlns:a16="http://schemas.microsoft.com/office/drawing/2014/main" id="{682B7BE1-4907-A213-303C-2EEC13EB364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18" name="Graphic 117" descr="Users with solid fill">
              <a:extLst>
                <a:ext uri="{FF2B5EF4-FFF2-40B4-BE49-F238E27FC236}">
                  <a16:creationId xmlns:a16="http://schemas.microsoft.com/office/drawing/2014/main" id="{AA923E29-0BDF-6DA3-A3C5-30E6B2EC862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cxnSp>
        <p:nvCxnSpPr>
          <p:cNvPr id="122" name="Straight Arrow Connector 121">
            <a:extLst>
              <a:ext uri="{FF2B5EF4-FFF2-40B4-BE49-F238E27FC236}">
                <a16:creationId xmlns:a16="http://schemas.microsoft.com/office/drawing/2014/main" id="{CFF4A3A2-0815-D084-AB64-3B16FCF98BE5}"/>
              </a:ext>
            </a:extLst>
          </p:cNvPr>
          <p:cNvCxnSpPr>
            <a:cxnSpLocks/>
          </p:cNvCxnSpPr>
          <p:nvPr/>
        </p:nvCxnSpPr>
        <p:spPr>
          <a:xfrm flipH="1">
            <a:off x="2654934" y="3459290"/>
            <a:ext cx="5136069" cy="2509954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Oval 127">
            <a:extLst>
              <a:ext uri="{FF2B5EF4-FFF2-40B4-BE49-F238E27FC236}">
                <a16:creationId xmlns:a16="http://schemas.microsoft.com/office/drawing/2014/main" id="{CBB7EF16-1F8C-D793-9AE4-6502CC6C9059}"/>
              </a:ext>
            </a:extLst>
          </p:cNvPr>
          <p:cNvSpPr/>
          <p:nvPr/>
        </p:nvSpPr>
        <p:spPr>
          <a:xfrm>
            <a:off x="4946688" y="6139647"/>
            <a:ext cx="3952856" cy="1683600"/>
          </a:xfrm>
          <a:prstGeom prst="ellipse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762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29" name="Graphic 128" descr="Satellite dish with solid fill">
            <a:extLst>
              <a:ext uri="{FF2B5EF4-FFF2-40B4-BE49-F238E27FC236}">
                <a16:creationId xmlns:a16="http://schemas.microsoft.com/office/drawing/2014/main" id="{88CA6C6C-672A-8201-3031-E6F49AD7230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868354" y="5289529"/>
            <a:ext cx="1454729" cy="1454729"/>
          </a:xfrm>
          <a:prstGeom prst="rect">
            <a:avLst/>
          </a:prstGeom>
        </p:spPr>
      </p:pic>
      <p:grpSp>
        <p:nvGrpSpPr>
          <p:cNvPr id="130" name="Group 129">
            <a:extLst>
              <a:ext uri="{FF2B5EF4-FFF2-40B4-BE49-F238E27FC236}">
                <a16:creationId xmlns:a16="http://schemas.microsoft.com/office/drawing/2014/main" id="{CAEB47F9-36BD-37AA-3369-52578B9017D1}"/>
              </a:ext>
            </a:extLst>
          </p:cNvPr>
          <p:cNvGrpSpPr/>
          <p:nvPr/>
        </p:nvGrpSpPr>
        <p:grpSpPr>
          <a:xfrm>
            <a:off x="6394100" y="6988610"/>
            <a:ext cx="769629" cy="776698"/>
            <a:chOff x="6679612" y="4972182"/>
            <a:chExt cx="2301480" cy="2151560"/>
          </a:xfrm>
        </p:grpSpPr>
        <p:pic>
          <p:nvPicPr>
            <p:cNvPr id="131" name="Graphic 130" descr="Computer with solid fill">
              <a:extLst>
                <a:ext uri="{FF2B5EF4-FFF2-40B4-BE49-F238E27FC236}">
                  <a16:creationId xmlns:a16="http://schemas.microsoft.com/office/drawing/2014/main" id="{17BC5666-C984-8BF4-DC10-C8238877D51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32" name="Graphic 131" descr="Users with solid fill">
              <a:extLst>
                <a:ext uri="{FF2B5EF4-FFF2-40B4-BE49-F238E27FC236}">
                  <a16:creationId xmlns:a16="http://schemas.microsoft.com/office/drawing/2014/main" id="{E578CE80-B78C-6C64-9DF0-B6EEA0326CA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33" name="Group 132">
            <a:extLst>
              <a:ext uri="{FF2B5EF4-FFF2-40B4-BE49-F238E27FC236}">
                <a16:creationId xmlns:a16="http://schemas.microsoft.com/office/drawing/2014/main" id="{3DD5F264-78CB-D204-6B07-FB57CA00E693}"/>
              </a:ext>
            </a:extLst>
          </p:cNvPr>
          <p:cNvGrpSpPr/>
          <p:nvPr/>
        </p:nvGrpSpPr>
        <p:grpSpPr>
          <a:xfrm>
            <a:off x="7201247" y="6590544"/>
            <a:ext cx="769629" cy="776698"/>
            <a:chOff x="6679612" y="4972182"/>
            <a:chExt cx="2301480" cy="2151560"/>
          </a:xfrm>
        </p:grpSpPr>
        <p:pic>
          <p:nvPicPr>
            <p:cNvPr id="134" name="Graphic 133" descr="Computer with solid fill">
              <a:extLst>
                <a:ext uri="{FF2B5EF4-FFF2-40B4-BE49-F238E27FC236}">
                  <a16:creationId xmlns:a16="http://schemas.microsoft.com/office/drawing/2014/main" id="{F14EE3CB-BF88-0E70-25B9-5AC2CEDB6E6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35" name="Graphic 134" descr="Users with solid fill">
              <a:extLst>
                <a:ext uri="{FF2B5EF4-FFF2-40B4-BE49-F238E27FC236}">
                  <a16:creationId xmlns:a16="http://schemas.microsoft.com/office/drawing/2014/main" id="{6D80735F-17FD-CF7E-C936-294FF5D6770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36" name="Group 135">
            <a:extLst>
              <a:ext uri="{FF2B5EF4-FFF2-40B4-BE49-F238E27FC236}">
                <a16:creationId xmlns:a16="http://schemas.microsoft.com/office/drawing/2014/main" id="{DD4E9444-6E79-1534-C30C-BF4410EE03CC}"/>
              </a:ext>
            </a:extLst>
          </p:cNvPr>
          <p:cNvGrpSpPr/>
          <p:nvPr/>
        </p:nvGrpSpPr>
        <p:grpSpPr>
          <a:xfrm>
            <a:off x="5550290" y="6658163"/>
            <a:ext cx="769629" cy="776698"/>
            <a:chOff x="6679612" y="4972182"/>
            <a:chExt cx="2301480" cy="2151560"/>
          </a:xfrm>
        </p:grpSpPr>
        <p:pic>
          <p:nvPicPr>
            <p:cNvPr id="137" name="Graphic 136" descr="Computer with solid fill">
              <a:extLst>
                <a:ext uri="{FF2B5EF4-FFF2-40B4-BE49-F238E27FC236}">
                  <a16:creationId xmlns:a16="http://schemas.microsoft.com/office/drawing/2014/main" id="{D14C25C3-80A9-23D6-6A25-69DA67F4A251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38" name="Graphic 137" descr="Users with solid fill">
              <a:extLst>
                <a:ext uri="{FF2B5EF4-FFF2-40B4-BE49-F238E27FC236}">
                  <a16:creationId xmlns:a16="http://schemas.microsoft.com/office/drawing/2014/main" id="{56B299C2-3AAF-ADC9-9A03-0940DC0DA09C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sp>
        <p:nvSpPr>
          <p:cNvPr id="139" name="Oval 138">
            <a:extLst>
              <a:ext uri="{FF2B5EF4-FFF2-40B4-BE49-F238E27FC236}">
                <a16:creationId xmlns:a16="http://schemas.microsoft.com/office/drawing/2014/main" id="{E9F20145-FCFA-6590-2536-9BDB97C5487A}"/>
              </a:ext>
            </a:extLst>
          </p:cNvPr>
          <p:cNvSpPr/>
          <p:nvPr/>
        </p:nvSpPr>
        <p:spPr>
          <a:xfrm>
            <a:off x="8844782" y="6715938"/>
            <a:ext cx="3952856" cy="1683600"/>
          </a:xfrm>
          <a:prstGeom prst="ellipse">
            <a:avLst/>
          </a:prstGeom>
          <a:solidFill>
            <a:schemeClr val="accent3">
              <a:lumMod val="20000"/>
              <a:lumOff val="80000"/>
              <a:alpha val="60000"/>
            </a:schemeClr>
          </a:solidFill>
          <a:ln w="76200">
            <a:solidFill>
              <a:srgbClr val="002060"/>
            </a:solidFill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40" name="Graphic 139" descr="Satellite dish with solid fill">
            <a:extLst>
              <a:ext uri="{FF2B5EF4-FFF2-40B4-BE49-F238E27FC236}">
                <a16:creationId xmlns:a16="http://schemas.microsoft.com/office/drawing/2014/main" id="{6664DAB6-7D32-62F3-938B-19E9E9C05EB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0831226" y="6259764"/>
            <a:ext cx="1454729" cy="1454729"/>
          </a:xfrm>
          <a:prstGeom prst="rect">
            <a:avLst/>
          </a:prstGeom>
        </p:spPr>
      </p:pic>
      <p:grpSp>
        <p:nvGrpSpPr>
          <p:cNvPr id="141" name="Group 140">
            <a:extLst>
              <a:ext uri="{FF2B5EF4-FFF2-40B4-BE49-F238E27FC236}">
                <a16:creationId xmlns:a16="http://schemas.microsoft.com/office/drawing/2014/main" id="{D6205724-4D04-6AD5-298E-9D1B7193245B}"/>
              </a:ext>
            </a:extLst>
          </p:cNvPr>
          <p:cNvGrpSpPr/>
          <p:nvPr/>
        </p:nvGrpSpPr>
        <p:grpSpPr>
          <a:xfrm>
            <a:off x="9375460" y="6846142"/>
            <a:ext cx="769629" cy="776698"/>
            <a:chOff x="6679612" y="4972182"/>
            <a:chExt cx="2301480" cy="2151560"/>
          </a:xfrm>
        </p:grpSpPr>
        <p:pic>
          <p:nvPicPr>
            <p:cNvPr id="142" name="Graphic 141" descr="Computer with solid fill">
              <a:extLst>
                <a:ext uri="{FF2B5EF4-FFF2-40B4-BE49-F238E27FC236}">
                  <a16:creationId xmlns:a16="http://schemas.microsoft.com/office/drawing/2014/main" id="{95B105D8-4E34-3E94-CD0A-6912F390998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43" name="Graphic 142" descr="Users with solid fill">
              <a:extLst>
                <a:ext uri="{FF2B5EF4-FFF2-40B4-BE49-F238E27FC236}">
                  <a16:creationId xmlns:a16="http://schemas.microsoft.com/office/drawing/2014/main" id="{48460055-25CC-FD38-9FF0-79C0C22E25C3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44" name="Group 143">
            <a:extLst>
              <a:ext uri="{FF2B5EF4-FFF2-40B4-BE49-F238E27FC236}">
                <a16:creationId xmlns:a16="http://schemas.microsoft.com/office/drawing/2014/main" id="{F0F9B6CB-A705-57DB-B1D6-7CE24747FE13}"/>
              </a:ext>
            </a:extLst>
          </p:cNvPr>
          <p:cNvGrpSpPr/>
          <p:nvPr/>
        </p:nvGrpSpPr>
        <p:grpSpPr>
          <a:xfrm>
            <a:off x="10420872" y="7405194"/>
            <a:ext cx="769629" cy="776698"/>
            <a:chOff x="6679612" y="4972182"/>
            <a:chExt cx="2301480" cy="2151560"/>
          </a:xfrm>
        </p:grpSpPr>
        <p:pic>
          <p:nvPicPr>
            <p:cNvPr id="145" name="Graphic 144" descr="Computer with solid fill">
              <a:extLst>
                <a:ext uri="{FF2B5EF4-FFF2-40B4-BE49-F238E27FC236}">
                  <a16:creationId xmlns:a16="http://schemas.microsoft.com/office/drawing/2014/main" id="{F528DB12-18AA-EFBD-07E8-0064D831ADBA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46" name="Graphic 145" descr="Users with solid fill">
              <a:extLst>
                <a:ext uri="{FF2B5EF4-FFF2-40B4-BE49-F238E27FC236}">
                  <a16:creationId xmlns:a16="http://schemas.microsoft.com/office/drawing/2014/main" id="{2EA76195-3D61-F23B-7DD8-CFAFAD880AAB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grpSp>
        <p:nvGrpSpPr>
          <p:cNvPr id="147" name="Group 146">
            <a:extLst>
              <a:ext uri="{FF2B5EF4-FFF2-40B4-BE49-F238E27FC236}">
                <a16:creationId xmlns:a16="http://schemas.microsoft.com/office/drawing/2014/main" id="{8B908AB1-C4BD-F156-CD53-1E51F6278632}"/>
              </a:ext>
            </a:extLst>
          </p:cNvPr>
          <p:cNvGrpSpPr/>
          <p:nvPr/>
        </p:nvGrpSpPr>
        <p:grpSpPr>
          <a:xfrm>
            <a:off x="9220691" y="7500643"/>
            <a:ext cx="769629" cy="776698"/>
            <a:chOff x="6679612" y="4972182"/>
            <a:chExt cx="2301480" cy="2151560"/>
          </a:xfrm>
        </p:grpSpPr>
        <p:pic>
          <p:nvPicPr>
            <p:cNvPr id="148" name="Graphic 147" descr="Computer with solid fill">
              <a:extLst>
                <a:ext uri="{FF2B5EF4-FFF2-40B4-BE49-F238E27FC236}">
                  <a16:creationId xmlns:a16="http://schemas.microsoft.com/office/drawing/2014/main" id="{27D30C81-5956-269A-F1CD-33E9C652915E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7878394" y="4972182"/>
              <a:ext cx="1102698" cy="1102698"/>
            </a:xfrm>
            <a:prstGeom prst="rect">
              <a:avLst/>
            </a:prstGeom>
          </p:spPr>
        </p:pic>
        <p:pic>
          <p:nvPicPr>
            <p:cNvPr id="149" name="Graphic 148" descr="Users with solid fill">
              <a:extLst>
                <a:ext uri="{FF2B5EF4-FFF2-40B4-BE49-F238E27FC236}">
                  <a16:creationId xmlns:a16="http://schemas.microsoft.com/office/drawing/2014/main" id="{0E7766EE-FAF0-BBF8-054C-8951702E814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6679612" y="4986331"/>
              <a:ext cx="2137411" cy="2137411"/>
            </a:xfrm>
            <a:prstGeom prst="rect">
              <a:avLst/>
            </a:prstGeom>
          </p:spPr>
        </p:pic>
      </p:grp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8514D5A4-3F08-4F49-924B-9FC32E8A1C99}"/>
              </a:ext>
            </a:extLst>
          </p:cNvPr>
          <p:cNvCxnSpPr>
            <a:cxnSpLocks/>
          </p:cNvCxnSpPr>
          <p:nvPr/>
        </p:nvCxnSpPr>
        <p:spPr>
          <a:xfrm flipH="1">
            <a:off x="7999873" y="3703961"/>
            <a:ext cx="145054" cy="1439539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Straight Arrow Connector 159">
            <a:extLst>
              <a:ext uri="{FF2B5EF4-FFF2-40B4-BE49-F238E27FC236}">
                <a16:creationId xmlns:a16="http://schemas.microsoft.com/office/drawing/2014/main" id="{5B43D4B3-0BAD-9063-5DB0-705B9122A7EE}"/>
              </a:ext>
            </a:extLst>
          </p:cNvPr>
          <p:cNvCxnSpPr>
            <a:cxnSpLocks/>
          </p:cNvCxnSpPr>
          <p:nvPr/>
        </p:nvCxnSpPr>
        <p:spPr>
          <a:xfrm>
            <a:off x="8899544" y="3588334"/>
            <a:ext cx="2236091" cy="2671430"/>
          </a:xfrm>
          <a:prstGeom prst="straightConnector1">
            <a:avLst/>
          </a:prstGeom>
          <a:ln w="76200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4" name="TextBox 163">
            <a:extLst>
              <a:ext uri="{FF2B5EF4-FFF2-40B4-BE49-F238E27FC236}">
                <a16:creationId xmlns:a16="http://schemas.microsoft.com/office/drawing/2014/main" id="{658F93FD-F3EB-76E4-4BF9-E14171ADD441}"/>
              </a:ext>
            </a:extLst>
          </p:cNvPr>
          <p:cNvSpPr txBox="1"/>
          <p:nvPr/>
        </p:nvSpPr>
        <p:spPr>
          <a:xfrm>
            <a:off x="11604528" y="2322710"/>
            <a:ext cx="269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accent6">
                    <a:lumMod val="75000"/>
                  </a:schemeClr>
                </a:solidFill>
              </a:rPr>
              <a:t>Feeder link </a:t>
            </a:r>
          </a:p>
        </p:txBody>
      </p:sp>
      <p:pic>
        <p:nvPicPr>
          <p:cNvPr id="166" name="Graphic 165" descr="Satellite dish with solid fill">
            <a:extLst>
              <a:ext uri="{FF2B5EF4-FFF2-40B4-BE49-F238E27FC236}">
                <a16:creationId xmlns:a16="http://schemas.microsoft.com/office/drawing/2014/main" id="{4F00E3B3-41A8-E8DA-FCBD-F6B6A52A866E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 flipH="1">
            <a:off x="13517106" y="3110896"/>
            <a:ext cx="2509954" cy="2509954"/>
          </a:xfrm>
          <a:prstGeom prst="rect">
            <a:avLst/>
          </a:prstGeom>
        </p:spPr>
      </p:pic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D8BCF4DB-B413-8698-1AC3-1B8064D490FA}"/>
              </a:ext>
            </a:extLst>
          </p:cNvPr>
          <p:cNvCxnSpPr>
            <a:cxnSpLocks/>
          </p:cNvCxnSpPr>
          <p:nvPr/>
        </p:nvCxnSpPr>
        <p:spPr>
          <a:xfrm>
            <a:off x="11673996" y="3197549"/>
            <a:ext cx="1866767" cy="1338642"/>
          </a:xfrm>
          <a:prstGeom prst="straightConnector1">
            <a:avLst/>
          </a:prstGeom>
          <a:ln w="76200">
            <a:solidFill>
              <a:schemeClr val="accent6">
                <a:lumMod val="75000"/>
              </a:schemeClr>
            </a:solidFill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0" name="TextBox 169">
            <a:extLst>
              <a:ext uri="{FF2B5EF4-FFF2-40B4-BE49-F238E27FC236}">
                <a16:creationId xmlns:a16="http://schemas.microsoft.com/office/drawing/2014/main" id="{69AA153B-6102-EECB-F452-7B8997511F99}"/>
              </a:ext>
            </a:extLst>
          </p:cNvPr>
          <p:cNvSpPr txBox="1"/>
          <p:nvPr/>
        </p:nvSpPr>
        <p:spPr>
          <a:xfrm>
            <a:off x="15906968" y="4714267"/>
            <a:ext cx="125056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GW</a:t>
            </a:r>
          </a:p>
        </p:txBody>
      </p:sp>
      <p:sp>
        <p:nvSpPr>
          <p:cNvPr id="172" name="TextBox 171">
            <a:extLst>
              <a:ext uri="{FF2B5EF4-FFF2-40B4-BE49-F238E27FC236}">
                <a16:creationId xmlns:a16="http://schemas.microsoft.com/office/drawing/2014/main" id="{055D11F7-264E-52F8-6361-4370C199E2BC}"/>
              </a:ext>
            </a:extLst>
          </p:cNvPr>
          <p:cNvSpPr txBox="1"/>
          <p:nvPr/>
        </p:nvSpPr>
        <p:spPr>
          <a:xfrm>
            <a:off x="11739828" y="5802748"/>
            <a:ext cx="111120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Cell j</a:t>
            </a:r>
          </a:p>
        </p:txBody>
      </p:sp>
      <p:sp>
        <p:nvSpPr>
          <p:cNvPr id="174" name="TextBox 173">
            <a:extLst>
              <a:ext uri="{FF2B5EF4-FFF2-40B4-BE49-F238E27FC236}">
                <a16:creationId xmlns:a16="http://schemas.microsoft.com/office/drawing/2014/main" id="{0DFBBA4A-1900-485B-41A3-88AB71DC0E91}"/>
              </a:ext>
            </a:extLst>
          </p:cNvPr>
          <p:cNvSpPr txBox="1"/>
          <p:nvPr/>
        </p:nvSpPr>
        <p:spPr>
          <a:xfrm>
            <a:off x="8497084" y="5802749"/>
            <a:ext cx="71526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600" b="1" dirty="0"/>
              <a:t>UT</a:t>
            </a:r>
          </a:p>
        </p:txBody>
      </p:sp>
      <p:sp>
        <p:nvSpPr>
          <p:cNvPr id="175" name="TextBox 174">
            <a:extLst>
              <a:ext uri="{FF2B5EF4-FFF2-40B4-BE49-F238E27FC236}">
                <a16:creationId xmlns:a16="http://schemas.microsoft.com/office/drawing/2014/main" id="{8DEE176D-27B8-A645-BFA7-9461A95446EA}"/>
              </a:ext>
            </a:extLst>
          </p:cNvPr>
          <p:cNvSpPr txBox="1"/>
          <p:nvPr/>
        </p:nvSpPr>
        <p:spPr>
          <a:xfrm>
            <a:off x="13319337" y="5762705"/>
            <a:ext cx="5016965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/>
              <a:t>Element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Transparent satellite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Fixed UT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Earth-fixed cells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Forward link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800" b="1" dirty="0"/>
              <a:t>UT demand aggregate by cell</a:t>
            </a:r>
          </a:p>
        </p:txBody>
      </p:sp>
      <p:sp>
        <p:nvSpPr>
          <p:cNvPr id="179" name="TextBox 178">
            <a:extLst>
              <a:ext uri="{FF2B5EF4-FFF2-40B4-BE49-F238E27FC236}">
                <a16:creationId xmlns:a16="http://schemas.microsoft.com/office/drawing/2014/main" id="{DD7EE576-E8B3-EAA2-0064-3CEE183317CB}"/>
              </a:ext>
            </a:extLst>
          </p:cNvPr>
          <p:cNvSpPr txBox="1"/>
          <p:nvPr/>
        </p:nvSpPr>
        <p:spPr>
          <a:xfrm>
            <a:off x="2826384" y="3622003"/>
            <a:ext cx="26908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tx2">
                    <a:lumMod val="75000"/>
                  </a:schemeClr>
                </a:solidFill>
              </a:rPr>
              <a:t>Service Link 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4E012D8-201F-7A8A-E178-30644F0ACC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0C0317DA-CA06-CCBC-683A-F2BBE206AA90}"/>
              </a:ext>
            </a:extLst>
          </p:cNvPr>
          <p:cNvGrpSpPr>
            <a:grpSpLocks noGrp="1" noUngrp="1" noRot="1" noMove="1" noResize="1"/>
          </p:cNvGrpSpPr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8DD1B348-4F3A-7903-8323-A0CCEC1B7DE6}"/>
                </a:ext>
              </a:extLst>
            </p:cNvPr>
            <p:cNvSpPr>
              <a:spLocks noGrp="1" noRot="1" noMove="1" noResize="1" noEditPoints="1" noAdjustHandles="1" noChangeArrowheads="1" noChangeShapeType="1"/>
            </p:cNvSpPr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5F11615F-BFC5-4FFA-2D6B-3C0888BF4D51}"/>
              </a:ext>
            </a:extLst>
          </p:cNvPr>
          <p:cNvSpPr txBox="1"/>
          <p:nvPr/>
        </p:nvSpPr>
        <p:spPr>
          <a:xfrm>
            <a:off x="1714500" y="1152525"/>
            <a:ext cx="14859000" cy="120391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sz="3999" b="1" spc="3" dirty="0">
                <a:solidFill>
                  <a:srgbClr val="92A5BC"/>
                </a:solidFill>
                <a:latin typeface="Montserrat Bold"/>
                <a:sym typeface="Open Sans"/>
              </a:rPr>
              <a:t>System Architecture-I/O</a:t>
            </a:r>
          </a:p>
          <a:p>
            <a:pPr algn="ctr">
              <a:lnSpc>
                <a:spcPts val="4799"/>
              </a:lnSpc>
            </a:pPr>
            <a:endParaRPr lang="en-US" sz="3999" b="1" spc="3" dirty="0">
              <a:solidFill>
                <a:srgbClr val="92A5B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3EBF409-4DBE-F532-B785-ADF13859D3DC}"/>
              </a:ext>
            </a:extLst>
          </p:cNvPr>
          <p:cNvSpPr/>
          <p:nvPr/>
        </p:nvSpPr>
        <p:spPr>
          <a:xfrm>
            <a:off x="9190061" y="2422534"/>
            <a:ext cx="7383439" cy="284013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00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18C08D4-DD44-3F9A-9BB7-AF3D8FE19006}"/>
              </a:ext>
            </a:extLst>
          </p:cNvPr>
          <p:cNvSpPr txBox="1"/>
          <p:nvPr/>
        </p:nvSpPr>
        <p:spPr>
          <a:xfrm>
            <a:off x="279508" y="3204766"/>
            <a:ext cx="312420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Topology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Constellation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User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UT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GW position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TLE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A2F91C81-3484-6BAB-E695-71F1B5156E16}"/>
              </a:ext>
            </a:extLst>
          </p:cNvPr>
          <p:cNvSpPr txBox="1"/>
          <p:nvPr/>
        </p:nvSpPr>
        <p:spPr>
          <a:xfrm>
            <a:off x="9504991" y="2653958"/>
            <a:ext cx="318348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Traffic model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F358E21B-06C6-DDE4-59B7-25DFD001D944}"/>
              </a:ext>
            </a:extLst>
          </p:cNvPr>
          <p:cNvSpPr txBox="1"/>
          <p:nvPr/>
        </p:nvSpPr>
        <p:spPr>
          <a:xfrm>
            <a:off x="12091202" y="5898173"/>
            <a:ext cx="3551262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Cell</a:t>
            </a:r>
            <a:r>
              <a:rPr lang="en-US" sz="4000" b="1" dirty="0"/>
              <a:t> </a:t>
            </a:r>
            <a:r>
              <a:rPr lang="en-US" sz="3200" dirty="0"/>
              <a:t>demand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F88319C-2B5D-8D52-A99E-B066FE7C459D}"/>
              </a:ext>
            </a:extLst>
          </p:cNvPr>
          <p:cNvSpPr/>
          <p:nvPr/>
        </p:nvSpPr>
        <p:spPr>
          <a:xfrm>
            <a:off x="9143999" y="6934224"/>
            <a:ext cx="7429499" cy="3048994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62F326BB-824F-6778-9DDA-78F41E94CB85}"/>
              </a:ext>
            </a:extLst>
          </p:cNvPr>
          <p:cNvCxnSpPr>
            <a:cxnSpLocks/>
          </p:cNvCxnSpPr>
          <p:nvPr/>
        </p:nvCxnSpPr>
        <p:spPr>
          <a:xfrm>
            <a:off x="8001000" y="4152900"/>
            <a:ext cx="966978" cy="0"/>
          </a:xfrm>
          <a:prstGeom prst="straightConnector1">
            <a:avLst/>
          </a:prstGeom>
          <a:ln w="76200">
            <a:solidFill>
              <a:srgbClr val="10101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9EBDBACB-CFA2-FD2F-A7AD-2F2806CD35E6}"/>
              </a:ext>
            </a:extLst>
          </p:cNvPr>
          <p:cNvCxnSpPr>
            <a:cxnSpLocks/>
          </p:cNvCxnSpPr>
          <p:nvPr/>
        </p:nvCxnSpPr>
        <p:spPr>
          <a:xfrm>
            <a:off x="11811000" y="5753100"/>
            <a:ext cx="0" cy="1107743"/>
          </a:xfrm>
          <a:prstGeom prst="straightConnector1">
            <a:avLst/>
          </a:prstGeom>
          <a:ln w="76200">
            <a:solidFill>
              <a:srgbClr val="10101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TextBox 27">
            <a:extLst>
              <a:ext uri="{FF2B5EF4-FFF2-40B4-BE49-F238E27FC236}">
                <a16:creationId xmlns:a16="http://schemas.microsoft.com/office/drawing/2014/main" id="{BA0EBBC3-A519-8659-4D9F-7D5A43C55DF7}"/>
              </a:ext>
            </a:extLst>
          </p:cNvPr>
          <p:cNvSpPr txBox="1"/>
          <p:nvPr/>
        </p:nvSpPr>
        <p:spPr>
          <a:xfrm>
            <a:off x="9524041" y="7350308"/>
            <a:ext cx="52505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Resource allocate model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3D266462-B22A-98E0-8FCD-1CEB6EB0DD5C}"/>
              </a:ext>
            </a:extLst>
          </p:cNvPr>
          <p:cNvSpPr txBox="1"/>
          <p:nvPr/>
        </p:nvSpPr>
        <p:spPr>
          <a:xfrm>
            <a:off x="594753" y="7889061"/>
            <a:ext cx="5786959" cy="206210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Demand Satisfaction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Packet Delivery Ratio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Throughput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3200" dirty="0"/>
              <a:t>End-to-End delay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DBD0B911-806C-AE04-D3C9-832ED59AA06A}"/>
              </a:ext>
            </a:extLst>
          </p:cNvPr>
          <p:cNvSpPr txBox="1"/>
          <p:nvPr/>
        </p:nvSpPr>
        <p:spPr>
          <a:xfrm>
            <a:off x="9309208" y="3542353"/>
            <a:ext cx="726429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Generate user demand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User-UT mapping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Aggregate UT demand to cell demand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DE9330E-665B-4199-73CC-4FB270714B0C}"/>
              </a:ext>
            </a:extLst>
          </p:cNvPr>
          <p:cNvSpPr txBox="1"/>
          <p:nvPr/>
        </p:nvSpPr>
        <p:spPr>
          <a:xfrm>
            <a:off x="9622663" y="8430688"/>
            <a:ext cx="493707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Beam-Cell Mapping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3200" dirty="0"/>
              <a:t>Allocate resources</a:t>
            </a:r>
          </a:p>
        </p:txBody>
      </p: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F83C5EC0-CF99-CC87-5491-AA41B5A56E70}"/>
              </a:ext>
            </a:extLst>
          </p:cNvPr>
          <p:cNvCxnSpPr>
            <a:cxnSpLocks/>
          </p:cNvCxnSpPr>
          <p:nvPr/>
        </p:nvCxnSpPr>
        <p:spPr>
          <a:xfrm flipH="1">
            <a:off x="5638800" y="8435028"/>
            <a:ext cx="2362200" cy="0"/>
          </a:xfrm>
          <a:prstGeom prst="straightConnector1">
            <a:avLst/>
          </a:prstGeom>
          <a:ln w="76200">
            <a:solidFill>
              <a:srgbClr val="10101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TextBox 48">
            <a:extLst>
              <a:ext uri="{FF2B5EF4-FFF2-40B4-BE49-F238E27FC236}">
                <a16:creationId xmlns:a16="http://schemas.microsoft.com/office/drawing/2014/main" id="{9D7AC056-4110-A73C-C625-168E97D2E6AB}"/>
              </a:ext>
            </a:extLst>
          </p:cNvPr>
          <p:cNvSpPr txBox="1"/>
          <p:nvPr/>
        </p:nvSpPr>
        <p:spPr>
          <a:xfrm>
            <a:off x="457200" y="2300015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Input</a:t>
            </a:r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5E889CAC-3846-9FB7-5445-7234C8FAD35D}"/>
              </a:ext>
            </a:extLst>
          </p:cNvPr>
          <p:cNvSpPr txBox="1"/>
          <p:nvPr/>
        </p:nvSpPr>
        <p:spPr>
          <a:xfrm>
            <a:off x="594753" y="7003360"/>
            <a:ext cx="2514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0" b="1" dirty="0"/>
              <a:t>Output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747D93E-8926-9A1A-B565-82E257AB3A39}"/>
              </a:ext>
            </a:extLst>
          </p:cNvPr>
          <p:cNvSpPr txBox="1"/>
          <p:nvPr/>
        </p:nvSpPr>
        <p:spPr>
          <a:xfrm>
            <a:off x="3488232" y="3158600"/>
            <a:ext cx="489196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3200" dirty="0"/>
              <a:t>Traffic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Packet size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3200" dirty="0"/>
              <a:t>Mean arrival rate (λ)</a:t>
            </a:r>
          </a:p>
        </p:txBody>
      </p:sp>
    </p:spTree>
    <p:extLst>
      <p:ext uri="{BB962C8B-B14F-4D97-AF65-F5344CB8AC3E}">
        <p14:creationId xmlns:p14="http://schemas.microsoft.com/office/powerpoint/2010/main" val="31582247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2EEA9E5-B763-9234-2D4E-A0746D2FA3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4D6C2B0A-12FE-4ABD-85B0-276CBB588969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91C77327-5F39-43E8-E26F-3339FECF6034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949DBDE0-738D-CECA-7454-D7C9EEAF3DC9}"/>
              </a:ext>
            </a:extLst>
          </p:cNvPr>
          <p:cNvSpPr txBox="1"/>
          <p:nvPr/>
        </p:nvSpPr>
        <p:spPr>
          <a:xfrm>
            <a:off x="1143000" y="4524375"/>
            <a:ext cx="6172200" cy="41073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1775"/>
              </a:lnSpc>
            </a:pPr>
            <a:r>
              <a:rPr lang="en-US" sz="33099" b="1" dirty="0">
                <a:solidFill>
                  <a:srgbClr val="F0F0F0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04</a:t>
            </a:r>
          </a:p>
        </p:txBody>
      </p:sp>
      <p:grpSp>
        <p:nvGrpSpPr>
          <p:cNvPr id="5" name="Group 5">
            <a:extLst>
              <a:ext uri="{FF2B5EF4-FFF2-40B4-BE49-F238E27FC236}">
                <a16:creationId xmlns:a16="http://schemas.microsoft.com/office/drawing/2014/main" id="{B59A4EEF-B30D-5464-AC31-B9393E27D4D6}"/>
              </a:ext>
            </a:extLst>
          </p:cNvPr>
          <p:cNvGrpSpPr/>
          <p:nvPr/>
        </p:nvGrpSpPr>
        <p:grpSpPr>
          <a:xfrm>
            <a:off x="5000625" y="3998709"/>
            <a:ext cx="85725" cy="2289620"/>
            <a:chOff x="0" y="0"/>
            <a:chExt cx="114300" cy="305282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785460AB-697F-C38D-9E38-BECADE3939CA}"/>
                </a:ext>
              </a:extLst>
            </p:cNvPr>
            <p:cNvSpPr/>
            <p:nvPr/>
          </p:nvSpPr>
          <p:spPr>
            <a:xfrm>
              <a:off x="0" y="0"/>
              <a:ext cx="114300" cy="3052826"/>
            </a:xfrm>
            <a:custGeom>
              <a:avLst/>
              <a:gdLst/>
              <a:ahLst/>
              <a:cxnLst/>
              <a:rect l="l" t="t" r="r" b="b"/>
              <a:pathLst>
                <a:path w="114300" h="3052826">
                  <a:moveTo>
                    <a:pt x="0" y="0"/>
                  </a:moveTo>
                  <a:lnTo>
                    <a:pt x="114300" y="0"/>
                  </a:lnTo>
                  <a:lnTo>
                    <a:pt x="114300" y="3052826"/>
                  </a:lnTo>
                  <a:lnTo>
                    <a:pt x="0" y="3052826"/>
                  </a:lnTo>
                  <a:close/>
                </a:path>
              </a:pathLst>
            </a:custGeom>
            <a:solidFill>
              <a:srgbClr val="CCDEE0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E349A3B6-F1B2-157D-EB98-D0F1A85DB626}"/>
              </a:ext>
            </a:extLst>
          </p:cNvPr>
          <p:cNvSpPr txBox="1"/>
          <p:nvPr/>
        </p:nvSpPr>
        <p:spPr>
          <a:xfrm>
            <a:off x="5572125" y="3998709"/>
            <a:ext cx="10904934" cy="174406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</a:rPr>
              <a:t>Expected Deliverables</a:t>
            </a:r>
            <a:endParaRPr lang="en-US" sz="5700" b="1" spc="3" dirty="0">
              <a:solidFill>
                <a:srgbClr val="92A5BC"/>
              </a:solidFill>
              <a:latin typeface="Montserrat Bold"/>
              <a:sym typeface="Open Sans"/>
            </a:endParaRPr>
          </a:p>
          <a:p>
            <a:pPr algn="l">
              <a:lnSpc>
                <a:spcPts val="6838"/>
              </a:lnSpc>
            </a:pPr>
            <a:endParaRPr lang="en-US" sz="5700" b="1" spc="3" dirty="0">
              <a:solidFill>
                <a:srgbClr val="92A5B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</p:spTree>
    <p:extLst>
      <p:ext uri="{BB962C8B-B14F-4D97-AF65-F5344CB8AC3E}">
        <p14:creationId xmlns:p14="http://schemas.microsoft.com/office/powerpoint/2010/main" val="38474342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161167-B72B-8887-94B4-7847B088051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6BE23433-D475-643F-1141-8E27ABD01B46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5" name="Freeform 3" descr="preencoded.png">
              <a:extLst>
                <a:ext uri="{FF2B5EF4-FFF2-40B4-BE49-F238E27FC236}">
                  <a16:creationId xmlns:a16="http://schemas.microsoft.com/office/drawing/2014/main" id="{725B9850-1F2B-015E-EFF8-857462CFF220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 dirty="0"/>
            </a:p>
          </p:txBody>
        </p:sp>
      </p:grpSp>
      <p:sp>
        <p:nvSpPr>
          <p:cNvPr id="4" name="TextBox 4">
            <a:extLst>
              <a:ext uri="{FF2B5EF4-FFF2-40B4-BE49-F238E27FC236}">
                <a16:creationId xmlns:a16="http://schemas.microsoft.com/office/drawing/2014/main" id="{FFA94741-6CB2-E351-9ADA-42E44AB00E4D}"/>
              </a:ext>
            </a:extLst>
          </p:cNvPr>
          <p:cNvSpPr txBox="1"/>
          <p:nvPr/>
        </p:nvSpPr>
        <p:spPr>
          <a:xfrm>
            <a:off x="1714500" y="1152525"/>
            <a:ext cx="14859000" cy="181947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lang="en-US" sz="4000" b="1" spc="3" dirty="0">
                <a:solidFill>
                  <a:srgbClr val="92A5BC"/>
                </a:solidFill>
                <a:latin typeface="Montserrat Bold"/>
              </a:rPr>
              <a:t>Experimental Plan &amp; Expected Outcomes</a:t>
            </a:r>
            <a:endParaRPr lang="en-US" sz="4000" b="1" spc="3" dirty="0">
              <a:solidFill>
                <a:srgbClr val="92A5BC"/>
              </a:solidFill>
              <a:latin typeface="Montserrat Bold"/>
              <a:sym typeface="Open Sans"/>
            </a:endParaRPr>
          </a:p>
          <a:p>
            <a:pPr algn="ctr">
              <a:lnSpc>
                <a:spcPts val="4799"/>
              </a:lnSpc>
            </a:pPr>
            <a:endParaRPr lang="en-US" sz="3999" b="1" spc="3" dirty="0">
              <a:solidFill>
                <a:srgbClr val="92A5BC"/>
              </a:solidFill>
              <a:latin typeface="Montserrat Bold"/>
              <a:sym typeface="Open Sans"/>
            </a:endParaRPr>
          </a:p>
          <a:p>
            <a:pPr algn="ctr">
              <a:lnSpc>
                <a:spcPts val="4799"/>
              </a:lnSpc>
            </a:pPr>
            <a:endParaRPr lang="en-US" sz="3999" b="1" spc="3" dirty="0">
              <a:solidFill>
                <a:srgbClr val="92A5BC"/>
              </a:solidFill>
              <a:latin typeface="Montserrat Bold"/>
              <a:ea typeface="Montserrat Bold"/>
              <a:cs typeface="Montserrat Bold"/>
              <a:sym typeface="Montserrat Bold"/>
            </a:endParaRPr>
          </a:p>
        </p:txBody>
      </p:sp>
      <p:sp>
        <p:nvSpPr>
          <p:cNvPr id="6" name="TextBox 7">
            <a:extLst>
              <a:ext uri="{FF2B5EF4-FFF2-40B4-BE49-F238E27FC236}">
                <a16:creationId xmlns:a16="http://schemas.microsoft.com/office/drawing/2014/main" id="{0654793E-21A2-9B77-3DDE-ADD6268093D2}"/>
              </a:ext>
            </a:extLst>
          </p:cNvPr>
          <p:cNvSpPr txBox="1"/>
          <p:nvPr/>
        </p:nvSpPr>
        <p:spPr>
          <a:xfrm>
            <a:off x="2209801" y="2651792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01</a:t>
            </a:r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E6045B55-C689-FC2F-6A30-D9C423AEE4A8}"/>
              </a:ext>
            </a:extLst>
          </p:cNvPr>
          <p:cNvSpPr txBox="1"/>
          <p:nvPr/>
        </p:nvSpPr>
        <p:spPr>
          <a:xfrm>
            <a:off x="3352801" y="2550130"/>
            <a:ext cx="12230100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Reference Scenario</a:t>
            </a:r>
          </a:p>
          <a:p>
            <a:r>
              <a:rPr lang="en-US" sz="2800" dirty="0"/>
              <a:t>Establish a transparent LEO NTN scenario with fixed UTs and a defined traffic model.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A reproducible reference scenario for subsequent experiments.</a:t>
            </a:r>
          </a:p>
        </p:txBody>
      </p:sp>
      <p:sp>
        <p:nvSpPr>
          <p:cNvPr id="10" name="TextBox 7">
            <a:extLst>
              <a:ext uri="{FF2B5EF4-FFF2-40B4-BE49-F238E27FC236}">
                <a16:creationId xmlns:a16="http://schemas.microsoft.com/office/drawing/2014/main" id="{8D17AA6E-0D31-40C5-9E66-321ADD760879}"/>
              </a:ext>
            </a:extLst>
          </p:cNvPr>
          <p:cNvSpPr txBox="1"/>
          <p:nvPr/>
        </p:nvSpPr>
        <p:spPr>
          <a:xfrm>
            <a:off x="2209800" y="4269235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02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0E1B3D32-D05B-3794-FD12-11F3C4EC4DD4}"/>
              </a:ext>
            </a:extLst>
          </p:cNvPr>
          <p:cNvSpPr txBox="1"/>
          <p:nvPr/>
        </p:nvSpPr>
        <p:spPr>
          <a:xfrm>
            <a:off x="3352800" y="4202550"/>
            <a:ext cx="12954001" cy="14157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Traffic Load Variation</a:t>
            </a:r>
          </a:p>
          <a:p>
            <a:r>
              <a:rPr lang="en-US" sz="2800" dirty="0"/>
              <a:t>Vary total offered traffic while keeping its spatial distribution fixed.</a:t>
            </a:r>
          </a:p>
          <a:p>
            <a:pPr marL="457200" indent="-457200">
              <a:buFont typeface="Wingdings" panose="05000000000000000000" pitchFamily="2" charset="2"/>
              <a:buChar char="Ø"/>
            </a:pPr>
            <a:r>
              <a:rPr lang="en-US" sz="2800" dirty="0"/>
              <a:t>Quantify how traffic load affects demand satisfaction and packet-level performance.</a:t>
            </a:r>
          </a:p>
        </p:txBody>
      </p:sp>
      <p:sp>
        <p:nvSpPr>
          <p:cNvPr id="16" name="TextBox 7">
            <a:extLst>
              <a:ext uri="{FF2B5EF4-FFF2-40B4-BE49-F238E27FC236}">
                <a16:creationId xmlns:a16="http://schemas.microsoft.com/office/drawing/2014/main" id="{8238174B-CEB2-EF11-14EF-7B3A6B4F8D21}"/>
              </a:ext>
            </a:extLst>
          </p:cNvPr>
          <p:cNvSpPr txBox="1"/>
          <p:nvPr/>
        </p:nvSpPr>
        <p:spPr>
          <a:xfrm>
            <a:off x="2209800" y="6071419"/>
            <a:ext cx="714375" cy="48731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840"/>
              </a:lnSpc>
            </a:pPr>
            <a:r>
              <a:rPr lang="en-US" sz="3600" b="1" dirty="0">
                <a:solidFill>
                  <a:srgbClr val="9D9AB1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03</a:t>
            </a:r>
          </a:p>
        </p:txBody>
      </p:sp>
      <p:sp>
        <p:nvSpPr>
          <p:cNvPr id="18" name="TextBox 8">
            <a:extLst>
              <a:ext uri="{FF2B5EF4-FFF2-40B4-BE49-F238E27FC236}">
                <a16:creationId xmlns:a16="http://schemas.microsoft.com/office/drawing/2014/main" id="{58BF4DF0-A67B-221C-E6B0-2588B3938C7D}"/>
              </a:ext>
            </a:extLst>
          </p:cNvPr>
          <p:cNvSpPr txBox="1"/>
          <p:nvPr/>
        </p:nvSpPr>
        <p:spPr>
          <a:xfrm>
            <a:off x="3352800" y="5965652"/>
            <a:ext cx="13563601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3600" b="1" dirty="0"/>
              <a:t>Spatial Traffic </a:t>
            </a:r>
          </a:p>
          <a:p>
            <a:r>
              <a:rPr lang="en-US" sz="2800" dirty="0"/>
              <a:t>Redistribute the same total expected offered traffic across geographical cells.</a:t>
            </a:r>
          </a:p>
          <a:p>
            <a:pPr marL="571500" indent="-571500">
              <a:buFont typeface="Wingdings" panose="05000000000000000000" pitchFamily="2" charset="2"/>
              <a:buChar char="Ø"/>
            </a:pPr>
            <a:r>
              <a:rPr lang="en-US" sz="2800" dirty="0"/>
              <a:t>Quantify how spatial traffic distribution affects overall and per-cell demand satisfaction and packet-level performance.</a:t>
            </a:r>
            <a:endParaRPr lang="en-US" sz="3600" dirty="0">
              <a:solidFill>
                <a:srgbClr val="3D3D3D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" name="Rectangle: Rounded Corners 1">
            <a:extLst>
              <a:ext uri="{FF2B5EF4-FFF2-40B4-BE49-F238E27FC236}">
                <a16:creationId xmlns:a16="http://schemas.microsoft.com/office/drawing/2014/main" id="{CD2BA1F7-6C91-A462-F7D2-22624C8EC7DB}"/>
              </a:ext>
            </a:extLst>
          </p:cNvPr>
          <p:cNvSpPr/>
          <p:nvPr/>
        </p:nvSpPr>
        <p:spPr>
          <a:xfrm>
            <a:off x="3352800" y="8039100"/>
            <a:ext cx="12725401" cy="1819472"/>
          </a:xfrm>
          <a:prstGeom prst="roundRect">
            <a:avLst/>
          </a:prstGeom>
          <a:solidFill>
            <a:srgbClr val="E2E1E7"/>
          </a:solidFill>
          <a:ln>
            <a:solidFill>
              <a:srgbClr val="9D9AB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F201BB2-B36A-DAC6-2ADC-FE03C1714BD0}"/>
              </a:ext>
            </a:extLst>
          </p:cNvPr>
          <p:cNvSpPr txBox="1"/>
          <p:nvPr/>
        </p:nvSpPr>
        <p:spPr>
          <a:xfrm>
            <a:off x="3557586" y="8193983"/>
            <a:ext cx="1143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/>
              <a:t>Performance</a:t>
            </a:r>
            <a:r>
              <a:rPr lang="en-US" dirty="0"/>
              <a:t> </a:t>
            </a:r>
            <a:r>
              <a:rPr lang="en-US" sz="3600" b="1" dirty="0"/>
              <a:t>Metrics</a:t>
            </a:r>
            <a:r>
              <a:rPr lang="en-US" dirty="0"/>
              <a:t> </a:t>
            </a:r>
          </a:p>
        </p:txBody>
      </p:sp>
      <p:sp>
        <p:nvSpPr>
          <p:cNvPr id="13" name="Flowchart: Terminator 12">
            <a:extLst>
              <a:ext uri="{FF2B5EF4-FFF2-40B4-BE49-F238E27FC236}">
                <a16:creationId xmlns:a16="http://schemas.microsoft.com/office/drawing/2014/main" id="{48A34E03-42E7-FFEA-8500-59EA7D4F228A}"/>
              </a:ext>
            </a:extLst>
          </p:cNvPr>
          <p:cNvSpPr/>
          <p:nvPr/>
        </p:nvSpPr>
        <p:spPr>
          <a:xfrm>
            <a:off x="3557586" y="8842496"/>
            <a:ext cx="3476626" cy="849024"/>
          </a:xfrm>
          <a:prstGeom prst="flowChartTerminator">
            <a:avLst/>
          </a:prstGeom>
          <a:solidFill>
            <a:srgbClr val="EBE9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Demand Satisfaction Ratio</a:t>
            </a:r>
          </a:p>
        </p:txBody>
      </p:sp>
      <p:sp>
        <p:nvSpPr>
          <p:cNvPr id="19" name="Flowchart: Terminator 18">
            <a:extLst>
              <a:ext uri="{FF2B5EF4-FFF2-40B4-BE49-F238E27FC236}">
                <a16:creationId xmlns:a16="http://schemas.microsoft.com/office/drawing/2014/main" id="{A7B0D3A8-673C-C7A9-6775-46A53FCE18BC}"/>
              </a:ext>
            </a:extLst>
          </p:cNvPr>
          <p:cNvSpPr/>
          <p:nvPr/>
        </p:nvSpPr>
        <p:spPr>
          <a:xfrm>
            <a:off x="7380167" y="8842496"/>
            <a:ext cx="2144833" cy="849024"/>
          </a:xfrm>
          <a:prstGeom prst="flowChartTerminator">
            <a:avLst/>
          </a:prstGeom>
          <a:solidFill>
            <a:srgbClr val="EBE9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E2E Delay</a:t>
            </a:r>
          </a:p>
        </p:txBody>
      </p:sp>
      <p:sp>
        <p:nvSpPr>
          <p:cNvPr id="21" name="Flowchart: Terminator 20">
            <a:extLst>
              <a:ext uri="{FF2B5EF4-FFF2-40B4-BE49-F238E27FC236}">
                <a16:creationId xmlns:a16="http://schemas.microsoft.com/office/drawing/2014/main" id="{FEC5D5E8-34C8-9BB2-EAF2-37E62CF4931A}"/>
              </a:ext>
            </a:extLst>
          </p:cNvPr>
          <p:cNvSpPr/>
          <p:nvPr/>
        </p:nvSpPr>
        <p:spPr>
          <a:xfrm>
            <a:off x="9945625" y="8799250"/>
            <a:ext cx="2551175" cy="849024"/>
          </a:xfrm>
          <a:prstGeom prst="flowChartTerminator">
            <a:avLst/>
          </a:prstGeom>
          <a:solidFill>
            <a:srgbClr val="EBE9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Throughput</a:t>
            </a:r>
          </a:p>
        </p:txBody>
      </p:sp>
      <p:sp>
        <p:nvSpPr>
          <p:cNvPr id="23" name="Flowchart: Terminator 22">
            <a:extLst>
              <a:ext uri="{FF2B5EF4-FFF2-40B4-BE49-F238E27FC236}">
                <a16:creationId xmlns:a16="http://schemas.microsoft.com/office/drawing/2014/main" id="{D3A9EA7C-6847-0C57-48C1-FF29CF28BD00}"/>
              </a:ext>
            </a:extLst>
          </p:cNvPr>
          <p:cNvSpPr/>
          <p:nvPr/>
        </p:nvSpPr>
        <p:spPr>
          <a:xfrm>
            <a:off x="12951524" y="8799250"/>
            <a:ext cx="2551175" cy="849024"/>
          </a:xfrm>
          <a:prstGeom prst="flowChartTerminator">
            <a:avLst/>
          </a:prstGeom>
          <a:solidFill>
            <a:srgbClr val="EBE9F5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b="1" dirty="0">
                <a:solidFill>
                  <a:sysClr val="windowText" lastClr="000000"/>
                </a:solidFill>
              </a:rPr>
              <a:t>PDR</a:t>
            </a:r>
          </a:p>
        </p:txBody>
      </p:sp>
    </p:spTree>
    <p:extLst>
      <p:ext uri="{BB962C8B-B14F-4D97-AF65-F5344CB8AC3E}">
        <p14:creationId xmlns:p14="http://schemas.microsoft.com/office/powerpoint/2010/main" val="11510535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33187DE-56C3-40CB-C29C-E65C5C4800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>
            <a:extLst>
              <a:ext uri="{FF2B5EF4-FFF2-40B4-BE49-F238E27FC236}">
                <a16:creationId xmlns:a16="http://schemas.microsoft.com/office/drawing/2014/main" id="{86EF65CD-158E-326B-21C2-91D49C58293C}"/>
              </a:ext>
            </a:extLst>
          </p:cNvPr>
          <p:cNvGrpSpPr/>
          <p:nvPr/>
        </p:nvGrpSpPr>
        <p:grpSpPr>
          <a:xfrm>
            <a:off x="0" y="0"/>
            <a:ext cx="18288000" cy="10287000"/>
            <a:chOff x="0" y="0"/>
            <a:chExt cx="24384000" cy="13716000"/>
          </a:xfrm>
        </p:grpSpPr>
        <p:sp>
          <p:nvSpPr>
            <p:cNvPr id="3" name="Freeform 3" descr="preencoded.png">
              <a:extLst>
                <a:ext uri="{FF2B5EF4-FFF2-40B4-BE49-F238E27FC236}">
                  <a16:creationId xmlns:a16="http://schemas.microsoft.com/office/drawing/2014/main" id="{66DC1BF7-323E-7786-86A8-A96DEC5C26CD}"/>
                </a:ext>
              </a:extLst>
            </p:cNvPr>
            <p:cNvSpPr/>
            <p:nvPr/>
          </p:nvSpPr>
          <p:spPr>
            <a:xfrm>
              <a:off x="0" y="0"/>
              <a:ext cx="24384000" cy="13716000"/>
            </a:xfrm>
            <a:custGeom>
              <a:avLst/>
              <a:gdLst/>
              <a:ahLst/>
              <a:cxnLst/>
              <a:rect l="l" t="t" r="r" b="b"/>
              <a:pathLst>
                <a:path w="24384000" h="13716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/>
              </a:stretch>
            </a:blipFill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5" name="Group 5">
            <a:extLst>
              <a:ext uri="{FF2B5EF4-FFF2-40B4-BE49-F238E27FC236}">
                <a16:creationId xmlns:a16="http://schemas.microsoft.com/office/drawing/2014/main" id="{07FFBD57-6D9D-6580-F044-C4EFF7A26FC1}"/>
              </a:ext>
            </a:extLst>
          </p:cNvPr>
          <p:cNvGrpSpPr/>
          <p:nvPr/>
        </p:nvGrpSpPr>
        <p:grpSpPr>
          <a:xfrm>
            <a:off x="5000625" y="3998709"/>
            <a:ext cx="85725" cy="2289620"/>
            <a:chOff x="0" y="0"/>
            <a:chExt cx="114300" cy="3052826"/>
          </a:xfrm>
        </p:grpSpPr>
        <p:sp>
          <p:nvSpPr>
            <p:cNvPr id="6" name="Freeform 6">
              <a:extLst>
                <a:ext uri="{FF2B5EF4-FFF2-40B4-BE49-F238E27FC236}">
                  <a16:creationId xmlns:a16="http://schemas.microsoft.com/office/drawing/2014/main" id="{191E6D71-26AE-16A5-E89B-EA2422E329F9}"/>
                </a:ext>
              </a:extLst>
            </p:cNvPr>
            <p:cNvSpPr/>
            <p:nvPr/>
          </p:nvSpPr>
          <p:spPr>
            <a:xfrm>
              <a:off x="0" y="0"/>
              <a:ext cx="114300" cy="3052826"/>
            </a:xfrm>
            <a:custGeom>
              <a:avLst/>
              <a:gdLst/>
              <a:ahLst/>
              <a:cxnLst/>
              <a:rect l="l" t="t" r="r" b="b"/>
              <a:pathLst>
                <a:path w="114300" h="3052826">
                  <a:moveTo>
                    <a:pt x="0" y="0"/>
                  </a:moveTo>
                  <a:lnTo>
                    <a:pt x="114300" y="0"/>
                  </a:lnTo>
                  <a:lnTo>
                    <a:pt x="114300" y="3052826"/>
                  </a:lnTo>
                  <a:lnTo>
                    <a:pt x="0" y="3052826"/>
                  </a:lnTo>
                  <a:close/>
                </a:path>
              </a:pathLst>
            </a:custGeom>
            <a:solidFill>
              <a:srgbClr val="9D9AB1"/>
            </a:solidFill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" name="TextBox 7">
            <a:extLst>
              <a:ext uri="{FF2B5EF4-FFF2-40B4-BE49-F238E27FC236}">
                <a16:creationId xmlns:a16="http://schemas.microsoft.com/office/drawing/2014/main" id="{81CAE292-CAFA-7CC3-2791-C4923892AC94}"/>
              </a:ext>
            </a:extLst>
          </p:cNvPr>
          <p:cNvSpPr txBox="1"/>
          <p:nvPr/>
        </p:nvSpPr>
        <p:spPr>
          <a:xfrm>
            <a:off x="5410200" y="4923756"/>
            <a:ext cx="9733359" cy="87203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838"/>
              </a:lnSpc>
            </a:pPr>
            <a:r>
              <a:rPr lang="en-US" sz="5700" b="1" spc="3" dirty="0">
                <a:solidFill>
                  <a:srgbClr val="92A5BC"/>
                </a:solidFill>
                <a:latin typeface="Montserrat Bold"/>
                <a:ea typeface="Montserrat Bold"/>
                <a:cs typeface="Montserrat Bold"/>
                <a:sym typeface="Montserrat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3007137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800</TotalTime>
  <Words>505</Words>
  <Application>Microsoft Office PowerPoint</Application>
  <PresentationFormat>Custom</PresentationFormat>
  <Paragraphs>225</Paragraphs>
  <Slides>13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22" baseType="lpstr">
      <vt:lpstr>Calibri</vt:lpstr>
      <vt:lpstr>Cambria Math</vt:lpstr>
      <vt:lpstr>Wingdings</vt:lpstr>
      <vt:lpstr>Montserrat Bold</vt:lpstr>
      <vt:lpstr>Times New Roman</vt:lpstr>
      <vt:lpstr>Open Sans</vt:lpstr>
      <vt:lpstr>Open Sans Bold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Personal_Presentation_Template_Unified_ULTRA_FINAL.pptx</dc:title>
  <dc:creator>wenj</dc:creator>
  <cp:lastModifiedBy>M11502215</cp:lastModifiedBy>
  <cp:revision>11</cp:revision>
  <dcterms:created xsi:type="dcterms:W3CDTF">2006-08-16T00:00:00Z</dcterms:created>
  <dcterms:modified xsi:type="dcterms:W3CDTF">2026-09-19T11:07:48Z</dcterms:modified>
  <dc:identifier>DAHOhXedOPU</dc:identifier>
</cp:coreProperties>
</file>